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78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Presentación basada en la ficha de análisis con enfoque de Sistema Seguro y en los proyectos de oficio dirigidos a las autoridades competentes.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propósito se deriva de las funciones de articulación y orientación técnica de la ANSV. Marco de referencia: Ley 1702 de 2013, Decreto 787 de 2015 y PNSV 2022–2031.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criterios permiten priorizar la respuesta. La activación no implica atribuir causas ni responsabilidades.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La </a:t>
            </a:r>
            <a:r>
              <a:rPr dirty="0" err="1"/>
              <a:t>asignación</a:t>
            </a:r>
            <a:r>
              <a:rPr dirty="0"/>
              <a:t> </a:t>
            </a:r>
            <a:r>
              <a:rPr dirty="0" err="1"/>
              <a:t>definitiva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ajustarse</a:t>
            </a:r>
            <a:r>
              <a:rPr dirty="0"/>
              <a:t> a la </a:t>
            </a:r>
            <a:r>
              <a:rPr dirty="0" err="1"/>
              <a:t>estructura</a:t>
            </a:r>
            <a:r>
              <a:rPr dirty="0"/>
              <a:t> </a:t>
            </a:r>
            <a:r>
              <a:rPr dirty="0" err="1"/>
              <a:t>vigente</a:t>
            </a:r>
            <a:r>
              <a:rPr dirty="0"/>
              <a:t>, al manual de </a:t>
            </a:r>
            <a:r>
              <a:rPr dirty="0" err="1"/>
              <a:t>funciones</a:t>
            </a:r>
            <a:r>
              <a:rPr dirty="0"/>
              <a:t> y a la </a:t>
            </a:r>
            <a:r>
              <a:rPr dirty="0" err="1"/>
              <a:t>decisión</a:t>
            </a:r>
            <a:r>
              <a:rPr dirty="0"/>
              <a:t> de la Dirección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es el flujograma central para socializar. Cada columna presenta tiempo, actividad, responsable y producto.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RACI preliminar. La ANSV debe validarla con la estructura y delegaciones vigentes antes de formalizar el procedimiento.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Áreas de acción del PNSV 2022–2031. La asignación de liderazgo es sugerida y debe validarse institucionalmente.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expediente debe residir en repositorios institucionales, no en cuentas personales. Aplicar las reglas internas de gestión documental y protección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oficios fueron preparados como proyectos independientes. Antes de radicar, completar destinatario, firma, radicado, fecha y canal de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productos sirven como puntos de control. No deben convertirse en trámites que retrasen medidas urgentes.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 metas son sugeridas para el piloto y deben ajustarse con la capacidad institucional y los acuerdos de nivel de servicio.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La hoja de </a:t>
            </a:r>
            <a:r>
              <a:rPr dirty="0" err="1"/>
              <a:t>ruta</a:t>
            </a:r>
            <a:r>
              <a:rPr dirty="0"/>
              <a:t> propone un </a:t>
            </a:r>
            <a:r>
              <a:rPr dirty="0" err="1"/>
              <a:t>piloto</a:t>
            </a:r>
            <a:r>
              <a:rPr dirty="0"/>
              <a:t> de </a:t>
            </a:r>
            <a:r>
              <a:rPr dirty="0" err="1"/>
              <a:t>noventa</a:t>
            </a:r>
            <a:r>
              <a:rPr dirty="0"/>
              <a:t> días. La </a:t>
            </a:r>
            <a:r>
              <a:rPr dirty="0" err="1"/>
              <a:t>formalización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realizarse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lineamiento</a:t>
            </a:r>
            <a:r>
              <a:rPr dirty="0"/>
              <a:t>, circular o </a:t>
            </a:r>
            <a:r>
              <a:rPr dirty="0" err="1"/>
              <a:t>procedimiento</a:t>
            </a:r>
            <a:r>
              <a:rPr dirty="0"/>
              <a:t>, </a:t>
            </a:r>
            <a:r>
              <a:rPr dirty="0" err="1"/>
              <a:t>según</a:t>
            </a:r>
            <a:r>
              <a:rPr dirty="0"/>
              <a:t> el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jurídico</a:t>
            </a:r>
            <a:r>
              <a:rPr dirty="0"/>
              <a:t> y de </a:t>
            </a:r>
            <a:r>
              <a:rPr dirty="0" err="1"/>
              <a:t>planeación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3ECE3-8722-9B44-E877-5344D14BD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15A81A-A5FC-4577-AA35-DEA20D6915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ECEE27-7209-52CF-2756-EC43FDBBA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85B83-153F-C323-D9B1-80E95CF240F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59453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AD326-3270-9B8A-BC9C-D045DAA79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0BA61-7A2A-0E48-1072-E0B98C693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F8B133-C696-2A67-015C-1B0DFAD37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86ADF-2EE2-85F5-0F52-5DDDA6FE309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0503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5630C6D-AE47-1413-E4C9-5EB8AFF8C8F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1318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CO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Información Pública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266CDA8-F1F7-412E-A2E5-D2C7BAD1DF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EAB3D49-F34B-4A6C-970A-2A81DA6687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3D6D088-07B8-4B0D-B726-080F479790DF}"/>
              </a:ext>
            </a:extLst>
          </p:cNvPr>
          <p:cNvSpPr>
            <a:spLocks noGrp="1"/>
          </p:cNvSpPr>
          <p:nvPr/>
        </p:nvSpPr>
        <p:spPr>
          <a:xfrm>
            <a:off x="819150" y="1381125"/>
            <a:ext cx="10287000" cy="1714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Estrategia institucional para el análisis y la respuesta ante siniestros viales graves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4466F30-0C41-404F-BBDB-8E4A2A61EB53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9525000" cy="838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725" b="0">
                <a:solidFill>
                  <a:srgbClr val="D9E7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9E7F5"/>
                </a:solidFill>
                <a:latin typeface="Arial"/>
                <a:ea typeface="Arial"/>
                <a:cs typeface="Arial"/>
              </a:rPr>
              <a:t>Flujo de responsables, tiempos, productos y seguimiento para su implementación en la ANSV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33CEBB8-FFC6-4DA8-BAAF-ACADF8BA44CE}"/>
              </a:ext>
            </a:extLst>
          </p:cNvPr>
          <p:cNvSpPr>
            <a:spLocks noGrp="1"/>
          </p:cNvSpPr>
          <p:nvPr/>
        </p:nvSpPr>
        <p:spPr>
          <a:xfrm>
            <a:off x="857250" y="5143500"/>
            <a:ext cx="42862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1">
                <a:solidFill>
                  <a:srgbClr val="F2C9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C94C"/>
                </a:solidFill>
                <a:latin typeface="Arial"/>
                <a:ea typeface="Arial"/>
                <a:cs typeface="Arial"/>
              </a:rPr>
              <a:t>Socialización institucional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0E026A-D1B6-4175-8A18-2B6C29ACA057}"/>
              </a:ext>
            </a:extLst>
          </p:cNvPr>
          <p:cNvSpPr>
            <a:spLocks noGrp="1"/>
          </p:cNvSpPr>
          <p:nvPr/>
        </p:nvSpPr>
        <p:spPr>
          <a:xfrm>
            <a:off x="857250" y="5524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Septiembre de 2026</a:t>
            </a:r>
          </a:p>
        </p:txBody>
      </p:sp>
    </p:spTree>
    <p:extLst>
      <p:ext uri="{BB962C8B-B14F-4D97-AF65-F5344CB8AC3E}">
        <p14:creationId xmlns:p14="http://schemas.microsoft.com/office/powerpoint/2010/main" val="515011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D5416F2-0664-47F5-95E9-8FB8611A14F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Propósito de la estrategia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CC20CE6-38D7-400C-BD7A-B074021D9328}"/>
              </a:ext>
            </a:extLst>
          </p:cNvPr>
          <p:cNvSpPr>
            <a:spLocks noGrp="1"/>
          </p:cNvSpPr>
          <p:nvPr/>
        </p:nvSpPr>
        <p:spPr>
          <a:xfrm>
            <a:off x="628650" y="97155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Una ruta común para responder con rapidez, competencia clara y evidencia verificable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23DCED8-84CB-4DF7-9448-AF289AEFFCFF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38100"/>
          </a:xfrm>
          <a:prstGeom prst="rect">
            <a:avLst/>
          </a:prstGeom>
          <a:solidFill>
            <a:srgbClr val="2F75B5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4FF5202-33D0-4849-B965-3F806E1A370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Resultado esperado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E88F8EA-66E0-4C8B-852A-8A21731D3C8F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4762500" cy="2190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87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La ANSV contará con un procedimiento activable para siniestros graves o de interés nacional. El procedimiento integrará información, análisis sistémico, articulación externa y seguimiento hasta el cierre.</a:t>
            </a:r>
          </a:p>
        </p:txBody>
      </p:sp>
      <p:graphicFrame>
        <p:nvGraphicFramePr>
          <p:cNvPr id="16" name="Tabla 15"/>
          <p:cNvGraphicFramePr/>
          <p:nvPr/>
        </p:nvGraphicFramePr>
        <p:xfrm>
          <a:off x="6096000" y="1790700"/>
          <a:ext cx="5334000" cy="3333750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Problema actual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 propuesta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Información dispersa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Expediente analítico único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Solicitudes sin secuencia común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Ruta con plazos y productos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Competencias poco visibles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Responsables ANSV y actores externos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Recomendaciones sin cierre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Indicadores y evidencia de cumplimiento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06BBCD2A-8E13-423D-A083-085B3E1D8E7F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Principio rector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E70F191-AD9C-411C-B579-A297C7B730DE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1028700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La estrategia previene nuevos eventos y reduce su severidad sin sustituir las investigaciones ni las facultades sancionatorias de otras autoridades.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AD071EB-D521-4DE3-9105-B3864E7F50F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957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Agencia Nacional de Seguridad Vial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A9528E9-93AF-48E9-A3B7-6CF44C3E5B59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9723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077C11AE-7566-46D9-9A9B-06F9D62DD7F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Criterios de activación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FDFC1FA-D9CD-44A2-A5AD-9042C1B6AD5A}"/>
              </a:ext>
            </a:extLst>
          </p:cNvPr>
          <p:cNvSpPr>
            <a:spLocks noGrp="1"/>
          </p:cNvSpPr>
          <p:nvPr/>
        </p:nvSpPr>
        <p:spPr>
          <a:xfrm>
            <a:off x="628650" y="97155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La Dirección General o la dependencia designada decide la activación con una valoración inicial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B040C78-3A14-40FF-BE29-1A8289762268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38100"/>
          </a:xfrm>
          <a:prstGeom prst="rect">
            <a:avLst/>
          </a:prstGeom>
          <a:solidFill>
            <a:srgbClr val="2F75B5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12" name="Tabla 11"/>
          <p:cNvGraphicFramePr/>
          <p:nvPr/>
        </p:nvGraphicFramePr>
        <p:xfrm>
          <a:off x="704850" y="1714500"/>
          <a:ext cx="10763250" cy="3571878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5313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Criterio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Señal de activación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Escalamiento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Severidad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Personas fallecidas o múltiples lesionados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Inmediato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Población vulnerable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Niñas, niños, peatones, ciclistas o comunidades expuestas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Inmediato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Riesgo de repetición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Posible falla de vehículo, infraestructura, operación o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Prioritario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Interés nacional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Corredor estratégico, transporte público o amplia atención pública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Prioritario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Necesidad de coordinación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Intervienen varias autoridades o existen vacíos de información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Activación técnica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7A7EAE20-820D-4CE5-B71B-009373EEE1B0}"/>
              </a:ext>
            </a:extLst>
          </p:cNvPr>
          <p:cNvSpPr>
            <a:spLocks noGrp="1"/>
          </p:cNvSpPr>
          <p:nvPr/>
        </p:nvSpPr>
        <p:spPr>
          <a:xfrm>
            <a:off x="704850" y="557212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Salida de esta fase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6002003-0FB2-4F69-ABE0-DB5301243D1D}"/>
              </a:ext>
            </a:extLst>
          </p:cNvPr>
          <p:cNvSpPr>
            <a:spLocks noGrp="1"/>
          </p:cNvSpPr>
          <p:nvPr/>
        </p:nvSpPr>
        <p:spPr>
          <a:xfrm>
            <a:off x="2762250" y="5524500"/>
            <a:ext cx="82867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Ficha inicial, nivel de alerta, líder del caso y primer directorio de actores.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D7845F2-6C66-48F0-9848-C2A926C7F38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957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Agencia Nacional de Seguridad Vial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F8F0933-C93E-4663-B176-262F0F772A3C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16844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677E6F3F-6512-44C7-BCBC-B4B9B17B72C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Gobernanza interna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0DAACC7-B824-42B0-B913-EB25A2793AEF}"/>
              </a:ext>
            </a:extLst>
          </p:cNvPr>
          <p:cNvSpPr>
            <a:spLocks noGrp="1"/>
          </p:cNvSpPr>
          <p:nvPr/>
        </p:nvSpPr>
        <p:spPr>
          <a:xfrm>
            <a:off x="628650" y="97155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La estrategia asigna un liderazgo único y conserva las competencias técnicas de cada dependencia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B4FEA44-74CD-4E00-9281-954DD7DB15A3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38100"/>
          </a:xfrm>
          <a:prstGeom prst="rect">
            <a:avLst/>
          </a:prstGeom>
          <a:solidFill>
            <a:srgbClr val="2F75B5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10" name="Tabla 9"/>
          <p:cNvGraphicFramePr/>
          <p:nvPr/>
        </p:nvGraphicFramePr>
        <p:xfrm>
          <a:off x="609600" y="1619250"/>
          <a:ext cx="10972800" cy="4238624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8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Responsabilidad principal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Producto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8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Dirección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Define prioridad, liderazgo y decisiones de escalamiento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Orientación y decisiones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8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DCI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Coordina actores, mesas, compromisos y seguimiento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Actas y matriz de compromisos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8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ONSV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Consolida datos, patrones y análisis de exposición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Informe analítico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8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Áreas técnicas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Formulan recomendaciones por área del Sistema Seguro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Conceptos técnicos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8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OAJ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Revisa competencia, reserva, protección de datos y remisiones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Orientación jurídica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8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OAP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Alinea productos con PNSV, PAI, PEI y reporte institucional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Trazabilidad institucional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8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Comunicaciones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Coordina información pública validada y manejo responsable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Mensajes autorizados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334ABC48-94E8-4E7D-84E0-35ADA3D8262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957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Agencia Nacional de Seguridad Vial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1E988C-6093-4BE8-9BF7-F52D479A7EA7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16045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D88EDCD6-988D-4CA9-82FB-8E6BCB62C46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Flujo institucional de respuesta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9C7DAC3-2685-4856-BC63-6EA40382E2A5}"/>
              </a:ext>
            </a:extLst>
          </p:cNvPr>
          <p:cNvSpPr>
            <a:spLocks noGrp="1"/>
          </p:cNvSpPr>
          <p:nvPr/>
        </p:nvSpPr>
        <p:spPr>
          <a:xfrm>
            <a:off x="628650" y="97155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Seis fases conectan la alerta inicial con la verificación de resultados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D71C55F-0146-4813-85CD-C7E8D5DA5080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38100"/>
          </a:xfrm>
          <a:prstGeom prst="rect">
            <a:avLst/>
          </a:prstGeom>
          <a:solidFill>
            <a:srgbClr val="2F75B5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12" name="Tabla 11"/>
          <p:cNvGraphicFramePr/>
          <p:nvPr/>
        </p:nvGraphicFramePr>
        <p:xfrm>
          <a:off x="523875" y="1666875"/>
          <a:ext cx="11144250" cy="3429000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1B7F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4F8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6C8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B282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0 a 24 h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0 a 72 h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Hasta 7 días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Hasta 30 días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Hasta 90 días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Cierre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Activación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Información y preservación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Mesa técnica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Análisis sistémico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Seguimiento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Aprendizaje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Dirección General y DCI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DCI, ONSV y áreas técnicas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DCI y actores externos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Equipo interdisciplinario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DCI y responsables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ONSV, DCI y áreas técnicas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64748B"/>
                          </a:solidFill>
                          <a:latin typeface="Arial"/>
                          <a:ea typeface="Arial"/>
                          <a:cs typeface="Arial"/>
                        </a:rPr>
                        <a:t>Ficha inicial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64748B"/>
                          </a:solidFill>
                          <a:latin typeface="Arial"/>
                          <a:ea typeface="Arial"/>
                          <a:cs typeface="Arial"/>
                        </a:rPr>
                        <a:t>Matriz de requerimientos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64748B"/>
                          </a:solidFill>
                          <a:latin typeface="Arial"/>
                          <a:ea typeface="Arial"/>
                          <a:cs typeface="Arial"/>
                        </a:rPr>
                        <a:t>Acta y RACI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64748B"/>
                          </a:solidFill>
                          <a:latin typeface="Arial"/>
                          <a:ea typeface="Arial"/>
                          <a:cs typeface="Arial"/>
                        </a:rPr>
                        <a:t>Informe preliminar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64748B"/>
                          </a:solidFill>
                          <a:latin typeface="Arial"/>
                          <a:ea typeface="Arial"/>
                          <a:cs typeface="Arial"/>
                        </a:rPr>
                        <a:t>Tablero de compromisos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64748B"/>
                          </a:solidFill>
                          <a:latin typeface="Arial"/>
                          <a:ea typeface="Arial"/>
                          <a:cs typeface="Arial"/>
                        </a:rPr>
                        <a:t>Informe final y lecciones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49DE3184-C86A-4245-AB2F-47074AFF2444}"/>
              </a:ext>
            </a:extLst>
          </p:cNvPr>
          <p:cNvSpPr>
            <a:spLocks noGrp="1"/>
          </p:cNvSpPr>
          <p:nvPr/>
        </p:nvSpPr>
        <p:spPr>
          <a:xfrm>
            <a:off x="685800" y="54102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Regla de avance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A4A92F3-039F-43A4-9072-7080243CE414}"/>
              </a:ext>
            </a:extLst>
          </p:cNvPr>
          <p:cNvSpPr>
            <a:spLocks noGrp="1"/>
          </p:cNvSpPr>
          <p:nvPr/>
        </p:nvSpPr>
        <p:spPr>
          <a:xfrm>
            <a:off x="2762250" y="5314950"/>
            <a:ext cx="847725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Cada fase deja un producto verificable. Los riesgos críticos se escalan sin esperar el cierre de la fase.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0683641-37D6-42F1-979B-F0BE4B62B67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957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Agencia Nacional de Seguridad Vial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2647FE7-3265-489F-9409-418B8DE65698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37515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E69AC2F1-8122-42CE-A962-00FA9174F5F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Matriz RACI por fase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3CAF380-DDA7-4DB8-A06A-8743F5895756}"/>
              </a:ext>
            </a:extLst>
          </p:cNvPr>
          <p:cNvSpPr>
            <a:spLocks noGrp="1"/>
          </p:cNvSpPr>
          <p:nvPr/>
        </p:nvSpPr>
        <p:spPr>
          <a:xfrm>
            <a:off x="628650" y="97155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La dependencia líder coordina, pero las decisiones y conceptos conservan su autoridad técnica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93F7A2E-6400-4EF8-8D6C-83140D8D3CE5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38100"/>
          </a:xfrm>
          <a:prstGeom prst="rect">
            <a:avLst/>
          </a:prstGeom>
          <a:solidFill>
            <a:srgbClr val="2F75B5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12" name="Tabla 11"/>
          <p:cNvGraphicFramePr/>
          <p:nvPr/>
        </p:nvGraphicFramePr>
        <p:xfrm>
          <a:off x="552450" y="1666875"/>
          <a:ext cx="11087100" cy="3857623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108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Fase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 Responsable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 Aprueba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 Consulta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 Informa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Activación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DCI o líder designado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Dirección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ONSV y áreas técnicas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Equipo directivo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Recolección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Dependencia líder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Dirección competente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Fuentes internas y externas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OAJ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Mesa técnica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Dirección DCI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Actores con competencia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Dirección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Análisis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Equipo interdisciplinario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Dirección designada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OAJ y OAP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Mesa técnica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Seguimiento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Dirección competente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Responsables de acción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Dirección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Cierre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ONSV y DCI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Dirección General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Áreas técnicas y OAJ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Actores participantes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A58DC220-F230-47CF-B063-274BE8B8A419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RACI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C23D367-5E0B-4E5A-943D-49A9097F6A64}"/>
              </a:ext>
            </a:extLst>
          </p:cNvPr>
          <p:cNvSpPr>
            <a:spLocks noGrp="1"/>
          </p:cNvSpPr>
          <p:nvPr/>
        </p:nvSpPr>
        <p:spPr>
          <a:xfrm>
            <a:off x="1524000" y="5753100"/>
            <a:ext cx="885825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 ejecuta. A aprueba o responde por la decisión. C aporta concepto. I recibe información.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5462AE5-1F3B-4BB3-A9DA-A963950F3C9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957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Agencia Nacional de Seguridad Vial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ECC56A4-758E-4250-92C2-11E36A213CFF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65693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8E06CC1F-5F7C-4A88-9749-23ECD3F21C8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Análisis por áreas del Sistema Seguro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AEA790A-A131-46DF-9333-8A26B9761547}"/>
              </a:ext>
            </a:extLst>
          </p:cNvPr>
          <p:cNvSpPr>
            <a:spLocks noGrp="1"/>
          </p:cNvSpPr>
          <p:nvPr/>
        </p:nvSpPr>
        <p:spPr>
          <a:xfrm>
            <a:off x="628650" y="97155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El equipo revisa las ocho áreas incluso cuando una de ellas no presente hallazgos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85B8A54-827A-4800-B894-48FEA54F3E79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38100"/>
          </a:xfrm>
          <a:prstGeom prst="rect">
            <a:avLst/>
          </a:prstGeom>
          <a:solidFill>
            <a:srgbClr val="2F75B5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10" name="Tabla 9"/>
          <p:cNvGraphicFramePr/>
          <p:nvPr/>
        </p:nvGraphicFramePr>
        <p:xfrm>
          <a:off x="495300" y="1524000"/>
          <a:ext cx="11201400" cy="457200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Área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Pregunta central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Liderazgo técnico sugerido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Velocidades seguras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¿La velocidad resultó compatible con la vía, el vehículo y la exposición?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Infraestructura, DCI y actores de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Vehículos seguros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¿Los sistemas críticos, el mantenimiento y la gestión de flota redujeron el riesgo?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Área técnica de vehículos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Infraestructura segura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¿El corredor previno el error y redujo la severidad?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Área técnica de infraestructura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Comportamiento seguro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¿Jornada, formación, conducción y protección de ocupantes fueron adecuadas?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Área técnica y empresa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Cumplimiento normativo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¿Los controles y decisiones tuvieron trazabilidad y enfoque de riesgo?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DCI y autoridades competentes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Atención a víctimas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¿La detección, rescate, traslado y acompañamiento fueron oportunos?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Grupo de víctimas y sector salud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Gobernanza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¿Hubo liderazgo, coordinación y cierre de compromisos?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Gestión del conocimiento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¿La evidencia produjo decisiones y aprendizaje transferible?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ONSV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5010BF06-C35C-4371-A2D5-EDB8A1E1EE5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957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Agencia Nacional de Seguridad Vial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80B758F-C63C-4152-B4CB-BB87418FB489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0436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26FEC4E9-B65C-480A-8A02-13D64E2243D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Gestión de información y evidencia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14FEB8F-C364-4081-A65B-B9F60904F84F}"/>
              </a:ext>
            </a:extLst>
          </p:cNvPr>
          <p:cNvSpPr>
            <a:spLocks noGrp="1"/>
          </p:cNvSpPr>
          <p:nvPr/>
        </p:nvSpPr>
        <p:spPr>
          <a:xfrm>
            <a:off x="628650" y="97155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La trazabilidad evita decisiones basadas en versiones preliminares o datos incompletos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832F1E8-5160-4DA4-AAC9-107256A3CB21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38100"/>
          </a:xfrm>
          <a:prstGeom prst="rect">
            <a:avLst/>
          </a:prstGeom>
          <a:solidFill>
            <a:srgbClr val="2F75B5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12" name="Tabla 11"/>
          <p:cNvGraphicFramePr/>
          <p:nvPr/>
        </p:nvGraphicFramePr>
        <p:xfrm>
          <a:off x="571500" y="1638300"/>
          <a:ext cx="11049000" cy="4000500"/>
        </p:xfrm>
        <a:graphic>
          <a:graphicData uri="http://schemas.openxmlformats.org/drawingml/2006/table">
            <a:tbl>
              <a:tblPr/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Paso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Responsable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1 Recepción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Registrar fuente, fecha, versión y nivel de reserva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Dependencia líder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Inventario de fuentes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2 Clasificación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Separar hecho confirmado, reporte preliminar, hipótesis y vacío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ONSV y área técnica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Matriz de calidad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3 Validación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Contrastar con autoridad competente y soporte documental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Responsable temático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Dato validado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4 Análisis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Relacionar factores concurrentes y barreras del Sistema Seguro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Equipo interdisciplinario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Hallazgos y riesgos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5 Custodia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Guardar evidencia en repositorio institucional y controlar acceso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Dependencia líder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Expediente único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6 Actualización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Controlar cambios, decisiones y fecha de corte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DCI y ONSV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Versión vigente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F9A61904-2DAD-4A07-B59A-21286C58699D}"/>
              </a:ext>
            </a:extLst>
          </p:cNvPr>
          <p:cNvSpPr>
            <a:spLocks noGrp="1"/>
          </p:cNvSpPr>
          <p:nvPr/>
        </p:nvSpPr>
        <p:spPr>
          <a:xfrm>
            <a:off x="714375" y="5857875"/>
            <a:ext cx="1428750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Dato sensible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CFEB0D9-0E84-4366-ADD6-E212EF6ABD55}"/>
              </a:ext>
            </a:extLst>
          </p:cNvPr>
          <p:cNvSpPr>
            <a:spLocks noGrp="1"/>
          </p:cNvSpPr>
          <p:nvPr/>
        </p:nvSpPr>
        <p:spPr>
          <a:xfrm>
            <a:off x="2143125" y="5772150"/>
            <a:ext cx="89535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La información de víctimas y menores circula únicamente por canales autorizados y con acceso limitado.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BBBCBBF-CC88-4F2B-8A25-52A5E90FF3A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957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Agencia Nacional de Seguridad Vial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0E87116-B1D9-4D83-8619-C50D96FFB294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23981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39A9CA2-CCDB-4FC1-980D-C955BE095B9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Coordinación con autoridades y actores externos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2B0C8AA-6CE9-4D96-B47B-6DBF1B528F1F}"/>
              </a:ext>
            </a:extLst>
          </p:cNvPr>
          <p:cNvSpPr>
            <a:spLocks noGrp="1"/>
          </p:cNvSpPr>
          <p:nvPr/>
        </p:nvSpPr>
        <p:spPr>
          <a:xfrm>
            <a:off x="628650" y="97155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Cada solicitud debe corresponder a la competencia y al producto que necesita el análisis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519C36-E767-4294-833C-AE9FF31F202F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38100"/>
          </a:xfrm>
          <a:prstGeom prst="rect">
            <a:avLst/>
          </a:prstGeom>
          <a:solidFill>
            <a:srgbClr val="2F75B5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10" name="Tabla 9"/>
          <p:cNvGraphicFramePr/>
          <p:nvPr>
            <p:extLst>
              <p:ext uri="{D42A27DB-BD31-4B8C-83A1-F6EECF244321}">
                <p14:modId xmlns:p14="http://schemas.microsoft.com/office/powerpoint/2010/main" val="1916437499"/>
              </p:ext>
            </p:extLst>
          </p:nvPr>
        </p:nvGraphicFramePr>
        <p:xfrm>
          <a:off x="609600" y="1619250"/>
          <a:ext cx="10972800" cy="4171952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49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Actor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Aporte esperado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Mecanismo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DITRA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IPAT, actuaciones, controles, evidencia y medidas inmediatas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Oficio y mesa técnica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ANI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Seguimiento contractual, inspección y plan de intervención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Oficio y visita conjunta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Concesionario vial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Operación</a:t>
                      </a:r>
                      <a:r>
                        <a:rPr sz="1125" b="0" dirty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, CCTV, </a:t>
                      </a:r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mantenimiento</a:t>
                      </a:r>
                      <a:r>
                        <a:rPr sz="1125" b="0" dirty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 y </a:t>
                      </a:r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evaluación</a:t>
                      </a:r>
                      <a:r>
                        <a:rPr sz="1125" b="0" dirty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 del </a:t>
                      </a:r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tramo</a:t>
                      </a:r>
                      <a:endParaRPr sz="1125" b="0" dirty="0">
                        <a:solidFill>
                          <a:srgbClr val="1E293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Oficio y entrega técnica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SuperTransporte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Habilitación</a:t>
                      </a:r>
                      <a:r>
                        <a:rPr sz="1125" b="0" dirty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vigilancia</a:t>
                      </a:r>
                      <a:r>
                        <a:rPr sz="1125" b="0" dirty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, PESV y </a:t>
                      </a:r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actuaciones</a:t>
                      </a:r>
                      <a:r>
                        <a:rPr sz="1125" b="0" dirty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dentro</a:t>
                      </a:r>
                      <a:r>
                        <a:rPr sz="1125" b="0" dirty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 de </a:t>
                      </a:r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competencia</a:t>
                      </a:r>
                      <a:endParaRPr sz="1125" b="0" dirty="0">
                        <a:solidFill>
                          <a:srgbClr val="1E293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Traslado preventivo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Salud y CRUE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Cifras</a:t>
                      </a:r>
                      <a:r>
                        <a:rPr sz="1125" b="0" dirty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validadas</a:t>
                      </a:r>
                      <a:r>
                        <a:rPr sz="1125" b="0" dirty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tiempos</a:t>
                      </a:r>
                      <a:r>
                        <a:rPr sz="1125" b="0" dirty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 de </a:t>
                      </a:r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  <a:r>
                        <a:rPr sz="1125" b="0" dirty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 y </a:t>
                      </a:r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oportunidades</a:t>
                      </a:r>
                      <a:r>
                        <a:rPr sz="1125" b="0" dirty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 de </a:t>
                      </a:r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mejora</a:t>
                      </a:r>
                      <a:endParaRPr sz="1125" b="0" dirty="0">
                        <a:solidFill>
                          <a:srgbClr val="1E293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Canal seguro y mesa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Empresa transportadora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Mantenimiento</a:t>
                      </a:r>
                      <a:r>
                        <a:rPr sz="1125" b="0" dirty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operación</a:t>
                      </a:r>
                      <a:r>
                        <a:rPr sz="1125" b="0" dirty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, GPS, conductor y </a:t>
                      </a:r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gestión</a:t>
                      </a:r>
                      <a:r>
                        <a:rPr sz="1125" b="0" dirty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 de </a:t>
                      </a:r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flota</a:t>
                      </a:r>
                      <a:endParaRPr sz="1125" b="0" dirty="0">
                        <a:solidFill>
                          <a:srgbClr val="1E293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Requerimiento documental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Municipio de Tangua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Respuesta territorial, comunidad y enlace de seguimiento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Oficio</a:t>
                      </a:r>
                      <a:r>
                        <a:rPr sz="1125" b="0" dirty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 y </a:t>
                      </a:r>
                      <a:r>
                        <a:rPr sz="1125" b="0" dirty="0" err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articulación</a:t>
                      </a:r>
                      <a:r>
                        <a:rPr sz="1125" b="0" dirty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 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0E7D299C-7B51-46C4-A380-B14B0C1EF8C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957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Agencia Nacional de Seguridad Vial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8376194-F7D5-4F6B-AB94-CBE17BB79BEF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24338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7437E95D-17E0-4793-B49C-41C62198B41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Productos y decisiones de control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B220323-9034-4CEB-9B85-F62A2076C926}"/>
              </a:ext>
            </a:extLst>
          </p:cNvPr>
          <p:cNvSpPr>
            <a:spLocks noGrp="1"/>
          </p:cNvSpPr>
          <p:nvPr/>
        </p:nvSpPr>
        <p:spPr>
          <a:xfrm>
            <a:off x="628650" y="97155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Cada producto habilita una decisión y deja evidencia de la actuación institucional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4A8A1C5-7806-4B49-B572-9802B998B050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38100"/>
          </a:xfrm>
          <a:prstGeom prst="rect">
            <a:avLst/>
          </a:prstGeom>
          <a:solidFill>
            <a:srgbClr val="2F75B5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12" name="Tabla 11"/>
          <p:cNvGraphicFramePr/>
          <p:nvPr/>
        </p:nvGraphicFramePr>
        <p:xfrm>
          <a:off x="762000" y="1714500"/>
          <a:ext cx="10668000" cy="3714753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Producto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Decisión que habilita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Criterio de cierre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Ficha inicial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Activar, priorizar o mantener monitoreo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Datos esenciales y líder definidos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Matriz de requerimientos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Solicitar información y preservar evidencia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Fuentes y responsables identificados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Acta y RACI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Asignar compromisos y plazos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Aceptación de responsables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Informe preliminar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Priorizar recomendaciones y medidas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Validación técnica y jurídica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Tablero de seguimiento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Escalar rezagos y riesgos persistentes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Evidencia de cumplimiento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Informe final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Cerrar el caso o mantener seguimiento estructural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Resultados, efectividad y lecciones documentadas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044A24DA-29C2-4B84-9FFA-91D239C56D7C}"/>
              </a:ext>
            </a:extLst>
          </p:cNvPr>
          <p:cNvSpPr>
            <a:spLocks noGrp="1"/>
          </p:cNvSpPr>
          <p:nvPr/>
        </p:nvSpPr>
        <p:spPr>
          <a:xfrm>
            <a:off x="781050" y="57150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Decisión crítica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046084E-9597-4375-9F58-E1A937D048A5}"/>
              </a:ext>
            </a:extLst>
          </p:cNvPr>
          <p:cNvSpPr>
            <a:spLocks noGrp="1"/>
          </p:cNvSpPr>
          <p:nvPr/>
        </p:nvSpPr>
        <p:spPr>
          <a:xfrm>
            <a:off x="2524125" y="5638800"/>
            <a:ext cx="85725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La Dirección General recibe de inmediato cualquier riesgo que pueda producir un nuevo evento grave.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FA2BADA-6067-40DF-AAFF-C5D96C8D823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957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Agencia Nacional de Seguridad Vial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3889EB7-21A4-4155-8D2C-428CDB5A1660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45541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5D1343A1-D3ED-4378-BA34-62E12417E20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Seguimiento e indicadores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F7C8D5F-3C33-4EC2-A380-81E0666317FB}"/>
              </a:ext>
            </a:extLst>
          </p:cNvPr>
          <p:cNvSpPr>
            <a:spLocks noGrp="1"/>
          </p:cNvSpPr>
          <p:nvPr/>
        </p:nvSpPr>
        <p:spPr>
          <a:xfrm>
            <a:off x="628650" y="97155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El tablero combina oportunidad, cumplimiento, calidad y resultados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37FF7FE-3035-4957-BA43-F9D723FF5347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38100"/>
          </a:xfrm>
          <a:prstGeom prst="rect">
            <a:avLst/>
          </a:prstGeom>
          <a:solidFill>
            <a:srgbClr val="2F75B5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12" name="Tabla 11"/>
          <p:cNvGraphicFramePr/>
          <p:nvPr/>
        </p:nvGraphicFramePr>
        <p:xfrm>
          <a:off x="523875" y="1666875"/>
          <a:ext cx="11144250" cy="3762374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48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Dimensión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Indicador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Meta inicial sugerida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Alerta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48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Oportunidad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Horas hasta ficha inicial y líder designado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24 horas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Más de 24 horas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48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Información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Porcentaje de variables críticas validadas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80 % al día 7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Menos de 60 %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48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Gobernanza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Compromisos cumplidos dentro del plazo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90 %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Pendiente crítico vencido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48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Respuesta técnica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Recomendaciones con responsable, plazo e indicador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100 %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Recomendación sin responsable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48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Cierre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Riesgos críticos con evidencia de tratamiento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100 %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Riesgo sin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48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Aprendizaje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Lecciones incorporadas a lineamientos o asistencia técnica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Una revisión por caso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Sin decisión documentada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86D8C9EA-70DD-4020-B703-A970F6CB565E}"/>
              </a:ext>
            </a:extLst>
          </p:cNvPr>
          <p:cNvSpPr>
            <a:spLocks noGrp="1"/>
          </p:cNvSpPr>
          <p:nvPr/>
        </p:nvSpPr>
        <p:spPr>
          <a:xfrm>
            <a:off x="666750" y="57626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Semáforo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702BD5-FB3B-4795-9388-6FD13495C430}"/>
              </a:ext>
            </a:extLst>
          </p:cNvPr>
          <p:cNvSpPr>
            <a:spLocks noGrp="1"/>
          </p:cNvSpPr>
          <p:nvPr/>
        </p:nvSpPr>
        <p:spPr>
          <a:xfrm>
            <a:off x="1809750" y="5686425"/>
            <a:ext cx="91440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Verde: en plazo. Amarillo: riesgo de vencimiento. Rojo: riesgo crítico o compromiso vencido.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FD09E19-559C-4C8A-9DE0-95D3F3321CE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957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Agencia Nacional de Seguridad Vial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4759E04-9AFC-45A4-B43A-907C07FB6AF0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29495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2823E698-FB01-4A2C-98A2-1DD1E50C2F3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Hoja de ruta para implementar la estrategia en la ANSV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A93BC42-45B0-4510-8D2E-BAC28E1859F9}"/>
              </a:ext>
            </a:extLst>
          </p:cNvPr>
          <p:cNvSpPr>
            <a:spLocks noGrp="1"/>
          </p:cNvSpPr>
          <p:nvPr/>
        </p:nvSpPr>
        <p:spPr>
          <a:xfrm>
            <a:off x="628650" y="97155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Propuesta de adopción gradual durante los primeros noventa días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AF4C963-EB48-4DD1-BCF8-47BAFF5ACBC6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38100"/>
          </a:xfrm>
          <a:prstGeom prst="rect">
            <a:avLst/>
          </a:prstGeom>
          <a:solidFill>
            <a:srgbClr val="2F75B5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12" name="Tabla 11"/>
          <p:cNvGraphicFramePr/>
          <p:nvPr/>
        </p:nvGraphicFramePr>
        <p:xfrm>
          <a:off x="476250" y="1600200"/>
          <a:ext cx="11239500" cy="3905251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7893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Periodo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Actividad institucional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Responsable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Producto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Días 0 a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Validación directiva del alcance, liderazgo y criterios de activación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Dirección General y DCI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Decisión institucional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Días 6 a 15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Ajuste de ficha, flujo, RACI, repositorio y modelos de oficio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DCI, ONSV, OAJ y OAP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Paquete metodológico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Días 16 a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Piloto con el caso de Tangua y mesa de retroalimentación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Equipo interdisciplinario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Informe del piloto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Días 31 a 60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Ajustes, socialización interna y formación de enlaces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DCI y Talento Humano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Equipos formados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Días 61 a 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Formalización, tablero de seguimiento y evaluación inicial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Dirección General, DCI y OAP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Estrategia operativa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Desde el día 91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Aplicación, revisión trimestral y mejora de instrumentos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Dependencias responsables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Informe de desempeño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9DEDFE04-AC90-4EB0-AE94-69DEA63479F2}"/>
              </a:ext>
            </a:extLst>
          </p:cNvPr>
          <p:cNvSpPr>
            <a:spLocks noGrp="1"/>
          </p:cNvSpPr>
          <p:nvPr/>
        </p:nvSpPr>
        <p:spPr>
          <a:xfrm>
            <a:off x="619125" y="57531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Decisiones requeridas para iniciar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E3DE620-D5A5-444E-834C-2AC2650E359A}"/>
              </a:ext>
            </a:extLst>
          </p:cNvPr>
          <p:cNvSpPr>
            <a:spLocks noGrp="1"/>
          </p:cNvSpPr>
          <p:nvPr/>
        </p:nvSpPr>
        <p:spPr>
          <a:xfrm>
            <a:off x="3476625" y="5657850"/>
            <a:ext cx="7905750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Designar líder institucional, aprobar el piloto, confirmar enlaces por dependencia y habilitar el repositorio.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E71BA0B-2C1A-448D-9717-88B6C33D610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957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Agencia Nacional de Seguridad Vial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6F027E5-5060-4021-BE21-6CAB25BED36E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58457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E0352F-B276-4604-BCAD-28D1628B1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29E5C5F3-90BA-08E3-655A-95A443470F1D}"/>
              </a:ext>
            </a:extLst>
          </p:cNvPr>
          <p:cNvSpPr>
            <a:spLocks noGrp="1"/>
          </p:cNvSpPr>
          <p:nvPr/>
        </p:nvSpPr>
        <p:spPr>
          <a:xfrm>
            <a:off x="390525" y="136525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es-CO" sz="2550" b="1" dirty="0">
                <a:solidFill>
                  <a:srgbClr val="17365D"/>
                </a:solidFill>
                <a:latin typeface="Arial"/>
              </a:rPr>
              <a:t>Equipo interdisciplinario</a:t>
            </a:r>
            <a:endParaRPr sz="2550" b="1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1258BAA-D127-41A5-781A-AD1CC188E9C1}"/>
              </a:ext>
            </a:extLst>
          </p:cNvPr>
          <p:cNvSpPr>
            <a:spLocks noGrp="1"/>
          </p:cNvSpPr>
          <p:nvPr/>
        </p:nvSpPr>
        <p:spPr>
          <a:xfrm>
            <a:off x="476250" y="597098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lang="es-CO" sz="1275" b="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Equipo sugerido</a:t>
            </a:r>
            <a:endParaRPr sz="1275" b="0" dirty="0">
              <a:solidFill>
                <a:srgbClr val="64748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FF50255-A555-14D6-D82B-EF5E78BC17FF}"/>
              </a:ext>
            </a:extLst>
          </p:cNvPr>
          <p:cNvSpPr>
            <a:spLocks noGrp="1"/>
          </p:cNvSpPr>
          <p:nvPr/>
        </p:nvSpPr>
        <p:spPr>
          <a:xfrm>
            <a:off x="390525" y="988913"/>
            <a:ext cx="10972800" cy="38100"/>
          </a:xfrm>
          <a:prstGeom prst="rect">
            <a:avLst/>
          </a:prstGeom>
          <a:solidFill>
            <a:srgbClr val="2F75B5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C6A62A2-19FA-A15F-5BAD-5ECC639E61D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957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Agencia Nacional de Seguridad Vial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2974DB2-6C8D-3906-3F60-ABFDE89DE867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4E0C945-3C92-C543-BEE5-4C73767D9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884530"/>
              </p:ext>
            </p:extLst>
          </p:nvPr>
        </p:nvGraphicFramePr>
        <p:xfrm>
          <a:off x="390527" y="1187648"/>
          <a:ext cx="6804358" cy="4370939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2791512">
                  <a:extLst>
                    <a:ext uri="{9D8B030D-6E8A-4147-A177-3AD203B41FA5}">
                      <a16:colId xmlns:a16="http://schemas.microsoft.com/office/drawing/2014/main" val="3988084336"/>
                    </a:ext>
                  </a:extLst>
                </a:gridCol>
                <a:gridCol w="1103048">
                  <a:extLst>
                    <a:ext uri="{9D8B030D-6E8A-4147-A177-3AD203B41FA5}">
                      <a16:colId xmlns:a16="http://schemas.microsoft.com/office/drawing/2014/main" val="4065185939"/>
                    </a:ext>
                  </a:extLst>
                </a:gridCol>
                <a:gridCol w="2909798">
                  <a:extLst>
                    <a:ext uri="{9D8B030D-6E8A-4147-A177-3AD203B41FA5}">
                      <a16:colId xmlns:a16="http://schemas.microsoft.com/office/drawing/2014/main" val="4183732217"/>
                    </a:ext>
                  </a:extLst>
                </a:gridCol>
              </a:tblGrid>
              <a:tr h="170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Perfil requerido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Área sugerida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Función principal</a:t>
                      </a:r>
                    </a:p>
                  </a:txBody>
                  <a:tcPr marL="26372" marR="26372" marT="13186" marB="13186" anchor="ctr"/>
                </a:tc>
                <a:extLst>
                  <a:ext uri="{0D108BD9-81ED-4DB2-BD59-A6C34878D82A}">
                    <a16:rowId xmlns:a16="http://schemas.microsoft.com/office/drawing/2014/main" val="2828594541"/>
                  </a:ext>
                </a:extLst>
              </a:tr>
              <a:tr h="311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Líder institucional de la estrategia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DCI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Activar la ruta, coordinar dependencias, convocar mesas y hacer seguimiento a compromisos.</a:t>
                      </a:r>
                    </a:p>
                  </a:txBody>
                  <a:tcPr marL="26372" marR="26372" marT="13186" marB="13186" anchor="ctr"/>
                </a:tc>
                <a:extLst>
                  <a:ext uri="{0D108BD9-81ED-4DB2-BD59-A6C34878D82A}">
                    <a16:rowId xmlns:a16="http://schemas.microsoft.com/office/drawing/2014/main" val="1350522523"/>
                  </a:ext>
                </a:extLst>
              </a:tr>
              <a:tr h="31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Profesional de análisis de datos y siniestralidad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ONSV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Consolidar información, validar datos, identificar patrones, factores de riesgo y antecedentes del corredor.</a:t>
                      </a:r>
                    </a:p>
                  </a:txBody>
                  <a:tcPr marL="26372" marR="26372" marT="13186" marB="13186" anchor="ctr"/>
                </a:tc>
                <a:extLst>
                  <a:ext uri="{0D108BD9-81ED-4DB2-BD59-A6C34878D82A}">
                    <a16:rowId xmlns:a16="http://schemas.microsoft.com/office/drawing/2014/main" val="2261768819"/>
                  </a:ext>
                </a:extLst>
              </a:tr>
              <a:tr h="311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Ingeniero de tránsito o transporte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Área técnica competente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Analizar velocidades, operación, señalización, tránsito, controles y condiciones de circulación.</a:t>
                      </a:r>
                    </a:p>
                  </a:txBody>
                  <a:tcPr marL="26372" marR="26372" marT="13186" marB="13186" anchor="ctr"/>
                </a:tc>
                <a:extLst>
                  <a:ext uri="{0D108BD9-81ED-4DB2-BD59-A6C34878D82A}">
                    <a16:rowId xmlns:a16="http://schemas.microsoft.com/office/drawing/2014/main" val="1842793282"/>
                  </a:ext>
                </a:extLst>
              </a:tr>
              <a:tr h="31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Ingeniero civil con experiencia vial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Infraestructura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Evaluar diseño geométrico, superficie, contención, drenaje, señalización y condiciones del corredor.</a:t>
                      </a:r>
                    </a:p>
                  </a:txBody>
                  <a:tcPr marL="26372" marR="26372" marT="13186" marB="13186" anchor="ctr"/>
                </a:tc>
                <a:extLst>
                  <a:ext uri="{0D108BD9-81ED-4DB2-BD59-A6C34878D82A}">
                    <a16:rowId xmlns:a16="http://schemas.microsoft.com/office/drawing/2014/main" val="1624473760"/>
                  </a:ext>
                </a:extLst>
              </a:tr>
              <a:tr h="311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Ingeniero mecánico, automotriz o de transporte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Vehículos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Revisar condiciones técnico-mecánicas, sistemas de seguridad, mantenimiento y gestión de flota.</a:t>
                      </a:r>
                    </a:p>
                  </a:txBody>
                  <a:tcPr marL="26372" marR="26372" marT="13186" marB="13186" anchor="ctr"/>
                </a:tc>
                <a:extLst>
                  <a:ext uri="{0D108BD9-81ED-4DB2-BD59-A6C34878D82A}">
                    <a16:rowId xmlns:a16="http://schemas.microsoft.com/office/drawing/2014/main" val="1638951176"/>
                  </a:ext>
                </a:extLst>
              </a:tr>
              <a:tr h="31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Profesional en comportamiento humano o seguridad vial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Área técnica/territorial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Analizar formación, fatiga, jornada, conductas de riesgo, uso de elementos de protección y cultura vial.</a:t>
                      </a:r>
                    </a:p>
                  </a:txBody>
                  <a:tcPr marL="26372" marR="26372" marT="13186" marB="13186" anchor="ctr"/>
                </a:tc>
                <a:extLst>
                  <a:ext uri="{0D108BD9-81ED-4DB2-BD59-A6C34878D82A}">
                    <a16:rowId xmlns:a16="http://schemas.microsoft.com/office/drawing/2014/main" val="2281338200"/>
                  </a:ext>
                </a:extLst>
              </a:tr>
              <a:tr h="311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Profesional en control y cumplimiento normativo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DCI o dependencia competente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Revisar controles, comparendos, actuaciones de autoridades, PESV y posibles incumplimientos.</a:t>
                      </a:r>
                    </a:p>
                  </a:txBody>
                  <a:tcPr marL="26372" marR="26372" marT="13186" marB="13186" anchor="ctr"/>
                </a:tc>
                <a:extLst>
                  <a:ext uri="{0D108BD9-81ED-4DB2-BD59-A6C34878D82A}">
                    <a16:rowId xmlns:a16="http://schemas.microsoft.com/office/drawing/2014/main" val="1703622263"/>
                  </a:ext>
                </a:extLst>
              </a:tr>
              <a:tr h="31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Profesional en atención a víctimas o salud pública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Grupo de Víctimas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Analizar rescate, atención prehospitalaria, traslado, oportunidad de la respuesta y acompañamiento.</a:t>
                      </a:r>
                    </a:p>
                  </a:txBody>
                  <a:tcPr marL="26372" marR="26372" marT="13186" marB="13186" anchor="ctr"/>
                </a:tc>
                <a:extLst>
                  <a:ext uri="{0D108BD9-81ED-4DB2-BD59-A6C34878D82A}">
                    <a16:rowId xmlns:a16="http://schemas.microsoft.com/office/drawing/2014/main" val="2282073274"/>
                  </a:ext>
                </a:extLst>
              </a:tr>
              <a:tr h="311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Profesional de planeación y seguimiento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OAP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Articular la estrategia con PNSV, PEI, PAI, riesgos, indicadores y reportes institucionales.</a:t>
                      </a:r>
                    </a:p>
                  </a:txBody>
                  <a:tcPr marL="26372" marR="26372" marT="13186" marB="13186" anchor="ctr"/>
                </a:tc>
                <a:extLst>
                  <a:ext uri="{0D108BD9-81ED-4DB2-BD59-A6C34878D82A}">
                    <a16:rowId xmlns:a16="http://schemas.microsoft.com/office/drawing/2014/main" val="1612326299"/>
                  </a:ext>
                </a:extLst>
              </a:tr>
              <a:tr h="45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Profesional en gestión documental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Área administrativa/documental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Organizar el expediente único, controlar versiones, preservar evidencias y garantizar trazabilidad.</a:t>
                      </a:r>
                    </a:p>
                  </a:txBody>
                  <a:tcPr marL="26372" marR="26372" marT="13186" marB="13186" anchor="ctr"/>
                </a:tc>
                <a:extLst>
                  <a:ext uri="{0D108BD9-81ED-4DB2-BD59-A6C34878D82A}">
                    <a16:rowId xmlns:a16="http://schemas.microsoft.com/office/drawing/2014/main" val="3308015490"/>
                  </a:ext>
                </a:extLst>
              </a:tr>
              <a:tr h="31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Profesional de comunicaciones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Comunicaciones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Gestionar mensajes institucionales, información pública y comunicación responsable sobre víctimas.</a:t>
                      </a:r>
                    </a:p>
                  </a:txBody>
                  <a:tcPr marL="26372" marR="26372" marT="13186" marB="13186" anchor="ctr"/>
                </a:tc>
                <a:extLst>
                  <a:ext uri="{0D108BD9-81ED-4DB2-BD59-A6C34878D82A}">
                    <a16:rowId xmlns:a16="http://schemas.microsoft.com/office/drawing/2014/main" val="402671351"/>
                  </a:ext>
                </a:extLst>
              </a:tr>
              <a:tr h="31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Profesional de sistemas o gestión tecnológica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TIC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Habilitar repositorio, accesos, tablero de control, interoperabilidad y seguridad de la información.</a:t>
                      </a:r>
                    </a:p>
                  </a:txBody>
                  <a:tcPr marL="26372" marR="26372" marT="13186" marB="13186" anchor="ctr"/>
                </a:tc>
                <a:extLst>
                  <a:ext uri="{0D108BD9-81ED-4DB2-BD59-A6C34878D82A}">
                    <a16:rowId xmlns:a16="http://schemas.microsoft.com/office/drawing/2014/main" val="1809975941"/>
                  </a:ext>
                </a:extLst>
              </a:tr>
              <a:tr h="311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Enlace territorial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DCI</a:t>
                      </a:r>
                    </a:p>
                  </a:txBody>
                  <a:tcPr marL="26372" marR="26372" marT="13186" marB="13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Coordinar con gobernaciones, municipios, organismos de tránsito, concesionarios y actores locales.</a:t>
                      </a:r>
                    </a:p>
                  </a:txBody>
                  <a:tcPr marL="26372" marR="26372" marT="13186" marB="13186" anchor="ctr"/>
                </a:tc>
                <a:extLst>
                  <a:ext uri="{0D108BD9-81ED-4DB2-BD59-A6C34878D82A}">
                    <a16:rowId xmlns:a16="http://schemas.microsoft.com/office/drawing/2014/main" val="3017843964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857F7397-81B3-5A4D-611A-D02D52801A16}"/>
              </a:ext>
            </a:extLst>
          </p:cNvPr>
          <p:cNvSpPr txBox="1"/>
          <p:nvPr/>
        </p:nvSpPr>
        <p:spPr>
          <a:xfrm>
            <a:off x="7486652" y="1457721"/>
            <a:ext cx="4314821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1200" b="1" dirty="0">
                <a:latin typeface="Arial" panose="020B0604020202020204" pitchFamily="34" charset="0"/>
                <a:cs typeface="Arial" panose="020B0604020202020204" pitchFamily="34" charset="0"/>
              </a:rPr>
              <a:t>Estructura mínima recomendada</a:t>
            </a:r>
          </a:p>
          <a:p>
            <a:pPr>
              <a:buNone/>
            </a:pPr>
            <a:endParaRPr lang="es-CO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Para iniciar un piloto, no sería necesario crear inmediatamente un equipo permanente de gran tamaño</a:t>
            </a:r>
          </a:p>
          <a:p>
            <a:pPr algn="just">
              <a:buNone/>
            </a:pPr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Podría conformarse un grupo Técnico</a:t>
            </a:r>
            <a:r>
              <a:rPr lang="es-CO" sz="1200" b="1" dirty="0">
                <a:latin typeface="Arial" panose="020B0604020202020204" pitchFamily="34" charset="0"/>
                <a:cs typeface="Arial" panose="020B0604020202020204" pitchFamily="34" charset="0"/>
              </a:rPr>
              <a:t> de siete roles</a:t>
            </a: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None/>
            </a:pPr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Líder de la estrategia — DCI.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Analista de información — ONSV.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Especialista en infraestructura y tránsito.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Especialista en vehículos y transporte.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Profesional de cumplimiento normativo.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Profesional de seguimiento — OAP. </a:t>
            </a:r>
          </a:p>
          <a:p>
            <a:pPr>
              <a:buNone/>
            </a:pPr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Los perfiles de víctimas, comunicaciones, TIC, gestión documental y enlace territorial se vincularían de acuerdo con el caso.</a:t>
            </a:r>
          </a:p>
        </p:txBody>
      </p:sp>
    </p:spTree>
    <p:extLst>
      <p:ext uri="{BB962C8B-B14F-4D97-AF65-F5344CB8AC3E}">
        <p14:creationId xmlns:p14="http://schemas.microsoft.com/office/powerpoint/2010/main" val="3307234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44B44B-C1A3-AC02-AB4D-7464DC3F8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49EF9997-03A8-23A0-2FF1-8035921E1105}"/>
              </a:ext>
            </a:extLst>
          </p:cNvPr>
          <p:cNvSpPr>
            <a:spLocks noGrp="1"/>
          </p:cNvSpPr>
          <p:nvPr/>
        </p:nvSpPr>
        <p:spPr>
          <a:xfrm>
            <a:off x="390525" y="136525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es-CO" sz="2550" b="1" dirty="0">
                <a:solidFill>
                  <a:srgbClr val="17365D"/>
                </a:solidFill>
                <a:latin typeface="Arial"/>
              </a:rPr>
              <a:t>Dedicación sugerida</a:t>
            </a:r>
            <a:endParaRPr sz="2550" b="1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6AA156-C57E-A205-E385-07EEE44EA7F8}"/>
              </a:ext>
            </a:extLst>
          </p:cNvPr>
          <p:cNvSpPr>
            <a:spLocks noGrp="1"/>
          </p:cNvSpPr>
          <p:nvPr/>
        </p:nvSpPr>
        <p:spPr>
          <a:xfrm>
            <a:off x="476250" y="597098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endParaRPr sz="1275" b="0" dirty="0">
              <a:solidFill>
                <a:srgbClr val="64748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EAFB96B-3BDF-658E-DDBA-82A8018217DC}"/>
              </a:ext>
            </a:extLst>
          </p:cNvPr>
          <p:cNvSpPr>
            <a:spLocks noGrp="1"/>
          </p:cNvSpPr>
          <p:nvPr/>
        </p:nvSpPr>
        <p:spPr>
          <a:xfrm>
            <a:off x="390525" y="988913"/>
            <a:ext cx="10972800" cy="38100"/>
          </a:xfrm>
          <a:prstGeom prst="rect">
            <a:avLst/>
          </a:prstGeom>
          <a:solidFill>
            <a:srgbClr val="2F75B5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37EC84C-3B29-3B2E-D80E-91505B9879F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957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Agencia Nacional de Seguridad Vial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1D8CC6F-CB38-25A6-1EC6-AF5A6763F5A2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8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96D24A1-557F-7938-F533-170828C62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979364"/>
              </p:ext>
            </p:extLst>
          </p:nvPr>
        </p:nvGraphicFramePr>
        <p:xfrm>
          <a:off x="390525" y="1288851"/>
          <a:ext cx="1051560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18949">
                  <a:extLst>
                    <a:ext uri="{9D8B030D-6E8A-4147-A177-3AD203B41FA5}">
                      <a16:colId xmlns:a16="http://schemas.microsoft.com/office/drawing/2014/main" val="2813667893"/>
                    </a:ext>
                  </a:extLst>
                </a:gridCol>
                <a:gridCol w="7296651">
                  <a:extLst>
                    <a:ext uri="{9D8B030D-6E8A-4147-A177-3AD203B41FA5}">
                      <a16:colId xmlns:a16="http://schemas.microsoft.com/office/drawing/2014/main" val="42772970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Modalidad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Perfiles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Dedicación permanente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Líder DCI, analista ONSV y apoyo de seguimiento/gestión documental.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7415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Activación por caso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Infraestructura, vehículos, comportamiento, control, víctimas y jurídico.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975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Apoyo transversal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OAP, TIC y Comunicaciones.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931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Participación externa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DITRA, ANI, INVIAS, </a:t>
                      </a:r>
                      <a:r>
                        <a:rPr lang="es-CO" dirty="0" err="1"/>
                        <a:t>SuperTransporte</a:t>
                      </a:r>
                      <a:r>
                        <a:rPr lang="es-CO" dirty="0"/>
                        <a:t>, concesionario, salud, autoridad territorial y empresa transportadora.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710802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25AC7B2E-8612-FABF-C219-8C676AF05F5E}"/>
              </a:ext>
            </a:extLst>
          </p:cNvPr>
          <p:cNvSpPr txBox="1"/>
          <p:nvPr/>
        </p:nvSpPr>
        <p:spPr>
          <a:xfrm>
            <a:off x="476250" y="4131092"/>
            <a:ext cx="10515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La ANSV también debería designar formalmente un </a:t>
            </a:r>
            <a:r>
              <a:rPr lang="es-CO" b="1" dirty="0"/>
              <a:t>líder institucional</a:t>
            </a:r>
            <a:r>
              <a:rPr lang="es-CO" dirty="0"/>
              <a:t>, un </a:t>
            </a:r>
            <a:r>
              <a:rPr lang="es-CO" b="1" dirty="0"/>
              <a:t>suplente</a:t>
            </a:r>
            <a:r>
              <a:rPr lang="es-CO" dirty="0"/>
              <a:t> y un </a:t>
            </a:r>
            <a:r>
              <a:rPr lang="es-CO" b="1" dirty="0"/>
              <a:t>enlace por cada dependencia</a:t>
            </a:r>
            <a:r>
              <a:rPr lang="es-CO" dirty="0"/>
              <a:t>, evitando que la estrategia dependa únicamente de contratistas o de conocimientos individuales.</a:t>
            </a:r>
          </a:p>
        </p:txBody>
      </p:sp>
    </p:spTree>
    <p:extLst>
      <p:ext uri="{BB962C8B-B14F-4D97-AF65-F5344CB8AC3E}">
        <p14:creationId xmlns:p14="http://schemas.microsoft.com/office/powerpoint/2010/main" val="34513773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2235</Words>
  <Application>Microsoft Office PowerPoint</Application>
  <DocSecurity>0</DocSecurity>
  <PresentationFormat>Panorámica</PresentationFormat>
  <Paragraphs>425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Tania Marcela Suarez Ortiz</cp:lastModifiedBy>
  <cp:revision>2</cp:revision>
  <dcterms:created xsi:type="dcterms:W3CDTF">2026-09-21T02:12:13Z</dcterms:created>
  <dcterms:modified xsi:type="dcterms:W3CDTF">2026-09-22T00:24:11Z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4b7c6c0-63aa-4c48-857c-972cf4a47d5d_Enabled">
    <vt:lpwstr>true</vt:lpwstr>
  </property>
  <property fmtid="{D5CDD505-2E9C-101B-9397-08002B2CF9AE}" pid="3" name="MSIP_Label_a4b7c6c0-63aa-4c48-857c-972cf4a47d5d_SetDate">
    <vt:lpwstr>2026-09-21T02:39:28Z</vt:lpwstr>
  </property>
  <property fmtid="{D5CDD505-2E9C-101B-9397-08002B2CF9AE}" pid="4" name="MSIP_Label_a4b7c6c0-63aa-4c48-857c-972cf4a47d5d_Method">
    <vt:lpwstr>Standard</vt:lpwstr>
  </property>
  <property fmtid="{D5CDD505-2E9C-101B-9397-08002B2CF9AE}" pid="5" name="MSIP_Label_a4b7c6c0-63aa-4c48-857c-972cf4a47d5d_Name">
    <vt:lpwstr>defa4170-0d19-0005-0001-bc88714345d2</vt:lpwstr>
  </property>
  <property fmtid="{D5CDD505-2E9C-101B-9397-08002B2CF9AE}" pid="6" name="MSIP_Label_a4b7c6c0-63aa-4c48-857c-972cf4a47d5d_SiteId">
    <vt:lpwstr>33fa6907-21c6-4126-aa66-bcbed95361bb</vt:lpwstr>
  </property>
  <property fmtid="{D5CDD505-2E9C-101B-9397-08002B2CF9AE}" pid="7" name="MSIP_Label_a4b7c6c0-63aa-4c48-857c-972cf4a47d5d_ActionId">
    <vt:lpwstr>6f6e1667-9261-40a4-8ae8-8436eb7f34f5</vt:lpwstr>
  </property>
  <property fmtid="{D5CDD505-2E9C-101B-9397-08002B2CF9AE}" pid="8" name="MSIP_Label_a4b7c6c0-63aa-4c48-857c-972cf4a47d5d_ContentBits">
    <vt:lpwstr>2</vt:lpwstr>
  </property>
  <property fmtid="{D5CDD505-2E9C-101B-9397-08002B2CF9AE}" pid="9" name="MSIP_Label_a4b7c6c0-63aa-4c48-857c-972cf4a47d5d_Tag">
    <vt:lpwstr>10, 3, 0, 1</vt:lpwstr>
  </property>
  <property fmtid="{D5CDD505-2E9C-101B-9397-08002B2CF9AE}" pid="10" name="ClassificationContentMarkingFooterLocations">
    <vt:lpwstr>ChatGPT:3</vt:lpwstr>
  </property>
  <property fmtid="{D5CDD505-2E9C-101B-9397-08002B2CF9AE}" pid="11" name="ClassificationContentMarkingFooterText">
    <vt:lpwstr>Información Pública</vt:lpwstr>
  </property>
</Properties>
</file>