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3"/>
  </p:notesMasterIdLst>
  <p:handoutMasterIdLst>
    <p:handoutMasterId r:id="rId24"/>
  </p:handoutMasterIdLst>
  <p:sldIdLst>
    <p:sldId id="298" r:id="rId2"/>
    <p:sldId id="288" r:id="rId3"/>
    <p:sldId id="284" r:id="rId4"/>
    <p:sldId id="291" r:id="rId5"/>
    <p:sldId id="295" r:id="rId6"/>
    <p:sldId id="292" r:id="rId7"/>
    <p:sldId id="302" r:id="rId8"/>
    <p:sldId id="303" r:id="rId9"/>
    <p:sldId id="283" r:id="rId10"/>
    <p:sldId id="304" r:id="rId11"/>
    <p:sldId id="305" r:id="rId12"/>
    <p:sldId id="306" r:id="rId13"/>
    <p:sldId id="307" r:id="rId14"/>
    <p:sldId id="308" r:id="rId15"/>
    <p:sldId id="313" r:id="rId16"/>
    <p:sldId id="314" r:id="rId17"/>
    <p:sldId id="309" r:id="rId18"/>
    <p:sldId id="310" r:id="rId19"/>
    <p:sldId id="311" r:id="rId20"/>
    <p:sldId id="312" r:id="rId21"/>
    <p:sldId id="26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1B"/>
    <a:srgbClr val="D8723E"/>
    <a:srgbClr val="1E335D"/>
    <a:srgbClr val="203765"/>
    <a:srgbClr val="F76F12"/>
    <a:srgbClr val="83CBEB"/>
    <a:srgbClr val="EFC7B3"/>
    <a:srgbClr val="93BB54"/>
    <a:srgbClr val="C49E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Estilo oscuro 2 - Énfasis 3/Énfasis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Estilo temático 2 - Énfasis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60" autoAdjust="0"/>
    <p:restoredTop sz="94660"/>
  </p:normalViewPr>
  <p:slideViewPr>
    <p:cSldViewPr snapToGrid="0">
      <p:cViewPr varScale="1">
        <p:scale>
          <a:sx n="107" d="100"/>
          <a:sy n="107" d="100"/>
        </p:scale>
        <p:origin x="1908" y="102"/>
      </p:cViewPr>
      <p:guideLst/>
    </p:cSldViewPr>
  </p:slideViewPr>
  <p:notesTextViewPr>
    <p:cViewPr>
      <p:scale>
        <a:sx n="1" d="1"/>
        <a:sy n="1" d="1"/>
      </p:scale>
      <p:origin x="0" y="0"/>
    </p:cViewPr>
  </p:notesText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7DE8F55E-3564-59E0-6AB4-0A68F59932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F2C491CA-AD82-21DA-B6AF-104C3C6492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65CE21-4FFD-43E4-9BE1-44B69E389DE4}" type="datetimeFigureOut">
              <a:rPr lang="es-CO" smtClean="0"/>
              <a:t>4/06/2026</a:t>
            </a:fld>
            <a:endParaRPr lang="es-CO"/>
          </a:p>
        </p:txBody>
      </p:sp>
      <p:sp>
        <p:nvSpPr>
          <p:cNvPr id="4" name="Marcador de pie de página 3">
            <a:extLst>
              <a:ext uri="{FF2B5EF4-FFF2-40B4-BE49-F238E27FC236}">
                <a16:creationId xmlns:a16="http://schemas.microsoft.com/office/drawing/2014/main" id="{84018EA8-D50D-6048-06A1-98CC923A5F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9F885154-3EB1-CC47-4591-C970E8A909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5897CF-0428-44F3-9C91-0685A4FB6EB6}" type="slidenum">
              <a:rPr lang="es-CO" smtClean="0"/>
              <a:t>‹Nº›</a:t>
            </a:fld>
            <a:endParaRPr lang="es-CO"/>
          </a:p>
        </p:txBody>
      </p:sp>
    </p:spTree>
    <p:extLst>
      <p:ext uri="{BB962C8B-B14F-4D97-AF65-F5344CB8AC3E}">
        <p14:creationId xmlns:p14="http://schemas.microsoft.com/office/powerpoint/2010/main" val="8900616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E1B78A-017D-40E1-AE75-8734CDEF8E98}" type="datetimeFigureOut">
              <a:rPr lang="es-CO" smtClean="0"/>
              <a:t>4/06/2026</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D78262-39A6-43D9-A917-9F20D72E51D8}" type="slidenum">
              <a:rPr lang="es-CO" smtClean="0"/>
              <a:t>‹Nº›</a:t>
            </a:fld>
            <a:endParaRPr lang="es-CO"/>
          </a:p>
        </p:txBody>
      </p:sp>
    </p:spTree>
    <p:extLst>
      <p:ext uri="{BB962C8B-B14F-4D97-AF65-F5344CB8AC3E}">
        <p14:creationId xmlns:p14="http://schemas.microsoft.com/office/powerpoint/2010/main" val="3311528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130FB0E3-55E9-47CB-8AEF-332A38653C1B}" type="slidenum">
              <a:rPr lang="es-CO" smtClean="0"/>
              <a:t>1</a:t>
            </a:fld>
            <a:endParaRPr lang="es-CO"/>
          </a:p>
        </p:txBody>
      </p:sp>
    </p:spTree>
    <p:extLst>
      <p:ext uri="{BB962C8B-B14F-4D97-AF65-F5344CB8AC3E}">
        <p14:creationId xmlns:p14="http://schemas.microsoft.com/office/powerpoint/2010/main" val="1609119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MX"/>
              <a:t>En este caso particular, la contratación se estructura como un proceso marco para seleccionar oferentes que desarrollen documentos técnicos, legales y administrativos con medidas específicas para la reducción de la siniestralidad vial, distribuidos por líneas temáticas. Si bien el proceso no conlleva una erogación presupuestal directa de la ANSV, la fuente de financiación proviene de recursos de inversión administrados por el Patrimonio Autónomo del Fondo, lo que impone el uso del régimen privado y la selección de una de las modalidades contenidas en el Capítulo IV del Manual Unificado de Contratación.</a:t>
            </a:r>
            <a:endParaRPr lang="es-CO"/>
          </a:p>
        </p:txBody>
      </p:sp>
      <p:sp>
        <p:nvSpPr>
          <p:cNvPr id="4" name="Marcador de número de diapositiva 3"/>
          <p:cNvSpPr>
            <a:spLocks noGrp="1"/>
          </p:cNvSpPr>
          <p:nvPr>
            <p:ph type="sldNum" sz="quarter" idx="5"/>
          </p:nvPr>
        </p:nvSpPr>
        <p:spPr/>
        <p:txBody>
          <a:bodyPr/>
          <a:lstStyle/>
          <a:p>
            <a:fld id="{130FB0E3-55E9-47CB-8AEF-332A38653C1B}" type="slidenum">
              <a:rPr lang="es-CO" smtClean="0"/>
              <a:t>6</a:t>
            </a:fld>
            <a:endParaRPr lang="es-CO"/>
          </a:p>
        </p:txBody>
      </p:sp>
    </p:spTree>
    <p:extLst>
      <p:ext uri="{BB962C8B-B14F-4D97-AF65-F5344CB8AC3E}">
        <p14:creationId xmlns:p14="http://schemas.microsoft.com/office/powerpoint/2010/main" val="3219370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F2DF-798D-1FD2-1920-E9FBD58A12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5F8E44-9DC7-E1C6-430F-18EFBC91C243}"/>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F6A36B55-D459-2EE0-7DE6-DEF781E7BC9E}"/>
              </a:ext>
            </a:extLst>
          </p:cNvPr>
          <p:cNvSpPr>
            <a:spLocks noGrp="1"/>
          </p:cNvSpPr>
          <p:nvPr>
            <p:ph type="body" idx="1"/>
          </p:nvPr>
        </p:nvSpPr>
        <p:spPr/>
        <p:txBody>
          <a:bodyPr/>
          <a:lstStyle/>
          <a:p>
            <a:r>
              <a:rPr lang="es-MX"/>
              <a:t>En este caso particular, la contratación se estructura como un proceso marco para seleccionar oferentes que desarrollen documentos técnicos, legales y administrativos con medidas específicas para la reducción de la siniestralidad vial, distribuidos por líneas temáticas. Si bien el proceso no conlleva una erogación presupuestal directa de la ANSV, la fuente de financiación proviene de recursos de inversión administrados por el Patrimonio Autónomo del Fondo, lo que impone el uso del régimen privado y la selección de una de las modalidades contenidas en el Capítulo IV del Manual Unificado de Contratación.</a:t>
            </a:r>
            <a:endParaRPr lang="es-CO"/>
          </a:p>
        </p:txBody>
      </p:sp>
      <p:sp>
        <p:nvSpPr>
          <p:cNvPr id="4" name="Marcador de número de diapositiva 3">
            <a:extLst>
              <a:ext uri="{FF2B5EF4-FFF2-40B4-BE49-F238E27FC236}">
                <a16:creationId xmlns:a16="http://schemas.microsoft.com/office/drawing/2014/main" id="{D231F7A2-2D88-1453-7162-9C97FF79999B}"/>
              </a:ext>
            </a:extLst>
          </p:cNvPr>
          <p:cNvSpPr>
            <a:spLocks noGrp="1"/>
          </p:cNvSpPr>
          <p:nvPr>
            <p:ph type="sldNum" sz="quarter" idx="5"/>
          </p:nvPr>
        </p:nvSpPr>
        <p:spPr/>
        <p:txBody>
          <a:bodyPr/>
          <a:lstStyle/>
          <a:p>
            <a:fld id="{130FB0E3-55E9-47CB-8AEF-332A38653C1B}" type="slidenum">
              <a:rPr lang="es-CO" smtClean="0"/>
              <a:t>7</a:t>
            </a:fld>
            <a:endParaRPr lang="es-CO"/>
          </a:p>
        </p:txBody>
      </p:sp>
    </p:spTree>
    <p:extLst>
      <p:ext uri="{BB962C8B-B14F-4D97-AF65-F5344CB8AC3E}">
        <p14:creationId xmlns:p14="http://schemas.microsoft.com/office/powerpoint/2010/main" val="2651897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CE1E3-75D6-19BD-47E3-9BB3090896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729706-416A-5D48-1172-65827DFE837B}"/>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88260022-1B05-2AE2-0D6C-3AC909DDB1C7}"/>
              </a:ext>
            </a:extLst>
          </p:cNvPr>
          <p:cNvSpPr>
            <a:spLocks noGrp="1"/>
          </p:cNvSpPr>
          <p:nvPr>
            <p:ph type="body" idx="1"/>
          </p:nvPr>
        </p:nvSpPr>
        <p:spPr/>
        <p:txBody>
          <a:bodyPr/>
          <a:lstStyle/>
          <a:p>
            <a:r>
              <a:rPr lang="es-MX"/>
              <a:t>En este caso particular, la contratación se estructura como un proceso marco para seleccionar oferentes que desarrollen documentos técnicos, legales y administrativos con medidas específicas para la reducción de la siniestralidad vial, distribuidos por líneas temáticas. Si bien el proceso no conlleva una erogación presupuestal directa de la ANSV, la fuente de financiación proviene de recursos de inversión administrados por el Patrimonio Autónomo del Fondo, lo que impone el uso del régimen privado y la selección de una de las modalidades contenidas en el Capítulo IV del Manual Unificado de Contratación.</a:t>
            </a:r>
            <a:endParaRPr lang="es-CO"/>
          </a:p>
        </p:txBody>
      </p:sp>
      <p:sp>
        <p:nvSpPr>
          <p:cNvPr id="4" name="Marcador de número de diapositiva 3">
            <a:extLst>
              <a:ext uri="{FF2B5EF4-FFF2-40B4-BE49-F238E27FC236}">
                <a16:creationId xmlns:a16="http://schemas.microsoft.com/office/drawing/2014/main" id="{3D9348DA-C8ED-E218-E18D-04226E9EB268}"/>
              </a:ext>
            </a:extLst>
          </p:cNvPr>
          <p:cNvSpPr>
            <a:spLocks noGrp="1"/>
          </p:cNvSpPr>
          <p:nvPr>
            <p:ph type="sldNum" sz="quarter" idx="5"/>
          </p:nvPr>
        </p:nvSpPr>
        <p:spPr/>
        <p:txBody>
          <a:bodyPr/>
          <a:lstStyle/>
          <a:p>
            <a:fld id="{130FB0E3-55E9-47CB-8AEF-332A38653C1B}" type="slidenum">
              <a:rPr lang="es-CO" smtClean="0"/>
              <a:t>8</a:t>
            </a:fld>
            <a:endParaRPr lang="es-CO"/>
          </a:p>
        </p:txBody>
      </p:sp>
    </p:spTree>
    <p:extLst>
      <p:ext uri="{BB962C8B-B14F-4D97-AF65-F5344CB8AC3E}">
        <p14:creationId xmlns:p14="http://schemas.microsoft.com/office/powerpoint/2010/main" val="8718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C74CBB0B-5D0C-43FE-9043-22172208F6F8}" type="slidenum">
              <a:rPr lang="es-CO" smtClean="0"/>
              <a:pPr/>
              <a:t>‹Nº›</a:t>
            </a:fld>
            <a:endParaRPr lang="es-CO" dirty="0"/>
          </a:p>
        </p:txBody>
      </p:sp>
      <p:sp>
        <p:nvSpPr>
          <p:cNvPr id="7" name="Rectángulo 6">
            <a:extLst>
              <a:ext uri="{FF2B5EF4-FFF2-40B4-BE49-F238E27FC236}">
                <a16:creationId xmlns:a16="http://schemas.microsoft.com/office/drawing/2014/main" id="{388D6B45-26A7-5F92-60CF-6E3011C71805}"/>
              </a:ext>
            </a:extLst>
          </p:cNvPr>
          <p:cNvSpPr/>
          <p:nvPr userDrawn="1"/>
        </p:nvSpPr>
        <p:spPr>
          <a:xfrm>
            <a:off x="0" y="819254"/>
            <a:ext cx="9144000" cy="5219493"/>
          </a:xfrm>
          <a:prstGeom prst="rect">
            <a:avLst/>
          </a:prstGeom>
          <a:solidFill>
            <a:srgbClr val="D87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dirty="0"/>
          </a:p>
        </p:txBody>
      </p:sp>
    </p:spTree>
    <p:extLst>
      <p:ext uri="{BB962C8B-B14F-4D97-AF65-F5344CB8AC3E}">
        <p14:creationId xmlns:p14="http://schemas.microsoft.com/office/powerpoint/2010/main" val="4158780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C74CBB0B-5D0C-43FE-9043-22172208F6F8}" type="slidenum">
              <a:rPr lang="es-CO" smtClean="0"/>
              <a:pPr/>
              <a:t>‹Nº›</a:t>
            </a:fld>
            <a:endParaRPr lang="es-CO" dirty="0"/>
          </a:p>
        </p:txBody>
      </p:sp>
      <p:sp>
        <p:nvSpPr>
          <p:cNvPr id="7" name="Rectángulo 6">
            <a:extLst>
              <a:ext uri="{FF2B5EF4-FFF2-40B4-BE49-F238E27FC236}">
                <a16:creationId xmlns:a16="http://schemas.microsoft.com/office/drawing/2014/main" id="{3BC1BE1F-8B5E-7ECE-1F19-FB1656917D36}"/>
              </a:ext>
            </a:extLst>
          </p:cNvPr>
          <p:cNvSpPr/>
          <p:nvPr userDrawn="1"/>
        </p:nvSpPr>
        <p:spPr>
          <a:xfrm>
            <a:off x="0" y="6721475"/>
            <a:ext cx="9144000" cy="136525"/>
          </a:xfrm>
          <a:prstGeom prst="rect">
            <a:avLst/>
          </a:prstGeom>
          <a:solidFill>
            <a:srgbClr val="D87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dirty="0"/>
          </a:p>
        </p:txBody>
      </p:sp>
    </p:spTree>
    <p:extLst>
      <p:ext uri="{BB962C8B-B14F-4D97-AF65-F5344CB8AC3E}">
        <p14:creationId xmlns:p14="http://schemas.microsoft.com/office/powerpoint/2010/main" val="2720067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C74CBB0B-5D0C-43FE-9043-22172208F6F8}" type="slidenum">
              <a:rPr lang="es-CO" smtClean="0"/>
              <a:pPr/>
              <a:t>‹Nº›</a:t>
            </a:fld>
            <a:endParaRPr lang="es-CO" dirty="0"/>
          </a:p>
        </p:txBody>
      </p:sp>
      <p:pic>
        <p:nvPicPr>
          <p:cNvPr id="7" name="Imagen 6">
            <a:extLst>
              <a:ext uri="{FF2B5EF4-FFF2-40B4-BE49-F238E27FC236}">
                <a16:creationId xmlns:a16="http://schemas.microsoft.com/office/drawing/2014/main" id="{F678DB9E-B366-164C-2F72-AE67EB49DE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323034" y="187748"/>
            <a:ext cx="497933" cy="413285"/>
          </a:xfrm>
          <a:prstGeom prst="rect">
            <a:avLst/>
          </a:prstGeom>
        </p:spPr>
      </p:pic>
    </p:spTree>
    <p:extLst>
      <p:ext uri="{BB962C8B-B14F-4D97-AF65-F5344CB8AC3E}">
        <p14:creationId xmlns:p14="http://schemas.microsoft.com/office/powerpoint/2010/main" val="1739731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3730034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8" name="Footer Placeholder 7"/>
          <p:cNvSpPr>
            <a:spLocks noGrp="1"/>
          </p:cNvSpPr>
          <p:nvPr>
            <p:ph type="ftr" sz="quarter" idx="11"/>
          </p:nvPr>
        </p:nvSpPr>
        <p:spPr/>
        <p:txBody>
          <a:bodyPr/>
          <a:lstStyle/>
          <a:p>
            <a:endParaRPr lang="es-CO" dirty="0"/>
          </a:p>
        </p:txBody>
      </p:sp>
      <p:sp>
        <p:nvSpPr>
          <p:cNvPr id="9" name="Slide Number Placeholder 8"/>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159654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2280016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3" name="Footer Placeholder 2"/>
          <p:cNvSpPr>
            <a:spLocks noGrp="1"/>
          </p:cNvSpPr>
          <p:nvPr>
            <p:ph type="ftr" sz="quarter" idx="11"/>
          </p:nvPr>
        </p:nvSpPr>
        <p:spPr/>
        <p:txBody>
          <a:bodyPr/>
          <a:lstStyle/>
          <a:p>
            <a:endParaRPr lang="es-CO" dirty="0"/>
          </a:p>
        </p:txBody>
      </p:sp>
      <p:sp>
        <p:nvSpPr>
          <p:cNvPr id="4" name="Slide Number Placeholder 3"/>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3169281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1859331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774649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1568451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56A6FAC-9192-436B-870E-80DDE60983C7}" type="datetimeFigureOut">
              <a:rPr lang="es-CO" smtClean="0"/>
              <a:pPr/>
              <a:t>4/06/2026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1063797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6AD64394-963E-D625-32AA-BDFC76B6E81B}"/>
              </a:ext>
            </a:extLst>
          </p:cNvPr>
          <p:cNvSpPr>
            <a:spLocks noGrp="1"/>
          </p:cNvSpPr>
          <p:nvPr>
            <p:ph type="dt" sz="half" idx="10"/>
          </p:nvPr>
        </p:nvSpPr>
        <p:spPr/>
        <p:txBody>
          <a:bodyPr/>
          <a:lstStyle>
            <a:lvl1pPr>
              <a:defRPr>
                <a:latin typeface="Verdana" panose="020B0604030504040204" pitchFamily="34" charset="0"/>
              </a:defRPr>
            </a:lvl1pPr>
          </a:lstStyle>
          <a:p>
            <a:fld id="{856A6FAC-9192-436B-870E-80DDE60983C7}" type="datetimeFigureOut">
              <a:rPr lang="es-CO" smtClean="0"/>
              <a:pPr/>
              <a:t>4/06/2026</a:t>
            </a:fld>
            <a:endParaRPr lang="es-CO" dirty="0"/>
          </a:p>
        </p:txBody>
      </p:sp>
      <p:sp>
        <p:nvSpPr>
          <p:cNvPr id="4" name="Marcador de pie de página 3">
            <a:extLst>
              <a:ext uri="{FF2B5EF4-FFF2-40B4-BE49-F238E27FC236}">
                <a16:creationId xmlns:a16="http://schemas.microsoft.com/office/drawing/2014/main" id="{C0F68054-34D7-9279-DFD5-715512BF4F92}"/>
              </a:ext>
            </a:extLst>
          </p:cNvPr>
          <p:cNvSpPr>
            <a:spLocks noGrp="1"/>
          </p:cNvSpPr>
          <p:nvPr>
            <p:ph type="ftr" sz="quarter" idx="11"/>
          </p:nvPr>
        </p:nvSpPr>
        <p:spPr/>
        <p:txBody>
          <a:bodyPr/>
          <a:lstStyle>
            <a:lvl1pPr>
              <a:defRPr>
                <a:latin typeface="Verdana" panose="020B0604030504040204" pitchFamily="34" charset="0"/>
              </a:defRPr>
            </a:lvl1pPr>
          </a:lstStyle>
          <a:p>
            <a:endParaRPr lang="es-CO" dirty="0"/>
          </a:p>
        </p:txBody>
      </p:sp>
      <p:sp>
        <p:nvSpPr>
          <p:cNvPr id="5" name="Marcador de número de diapositiva 4">
            <a:extLst>
              <a:ext uri="{FF2B5EF4-FFF2-40B4-BE49-F238E27FC236}">
                <a16:creationId xmlns:a16="http://schemas.microsoft.com/office/drawing/2014/main" id="{4916C35A-4761-CBE9-49AD-2C3A4928C1E2}"/>
              </a:ext>
            </a:extLst>
          </p:cNvPr>
          <p:cNvSpPr>
            <a:spLocks noGrp="1"/>
          </p:cNvSpPr>
          <p:nvPr>
            <p:ph type="sldNum" sz="quarter" idx="12"/>
          </p:nvPr>
        </p:nvSpPr>
        <p:spPr/>
        <p:txBody>
          <a:bodyPr/>
          <a:lstStyle>
            <a:lvl1pPr>
              <a:defRPr>
                <a:latin typeface="Verdana" panose="020B0604030504040204" pitchFamily="34" charset="0"/>
              </a:defRPr>
            </a:lvl1pPr>
          </a:lstStyle>
          <a:p>
            <a:fld id="{C74CBB0B-5D0C-43FE-9043-22172208F6F8}" type="slidenum">
              <a:rPr lang="es-CO" smtClean="0"/>
              <a:pPr/>
              <a:t>‹Nº›</a:t>
            </a:fld>
            <a:endParaRPr lang="es-CO" dirty="0"/>
          </a:p>
        </p:txBody>
      </p:sp>
      <p:pic>
        <p:nvPicPr>
          <p:cNvPr id="6" name="Imagen 5">
            <a:extLst>
              <a:ext uri="{FF2B5EF4-FFF2-40B4-BE49-F238E27FC236}">
                <a16:creationId xmlns:a16="http://schemas.microsoft.com/office/drawing/2014/main" id="{53806064-D094-DA86-6C22-C9CFC529A6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27308" y="2247339"/>
            <a:ext cx="1889382" cy="1568188"/>
          </a:xfrm>
          <a:prstGeom prst="rect">
            <a:avLst/>
          </a:prstGeom>
        </p:spPr>
      </p:pic>
    </p:spTree>
    <p:extLst>
      <p:ext uri="{BB962C8B-B14F-4D97-AF65-F5344CB8AC3E}">
        <p14:creationId xmlns:p14="http://schemas.microsoft.com/office/powerpoint/2010/main" val="1280685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A6FAC-9192-436B-870E-80DDE60983C7}" type="datetimeFigureOut">
              <a:rPr lang="es-CO" smtClean="0"/>
              <a:pPr/>
              <a:t>4/06/2026</a:t>
            </a:fld>
            <a:endParaRPr lang="es-CO"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4CBB0B-5D0C-43FE-9043-22172208F6F8}" type="slidenum">
              <a:rPr lang="es-CO" smtClean="0"/>
              <a:pPr/>
              <a:t>‹Nº›</a:t>
            </a:fld>
            <a:endParaRPr lang="es-CO" dirty="0"/>
          </a:p>
        </p:txBody>
      </p:sp>
    </p:spTree>
    <p:extLst>
      <p:ext uri="{BB962C8B-B14F-4D97-AF65-F5344CB8AC3E}">
        <p14:creationId xmlns:p14="http://schemas.microsoft.com/office/powerpoint/2010/main" val="23761057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nam02.safelinks.protection.outlook.com/?url=https%3A%2F%2Fwww.ansv.gov.co%2Fes%2Fnode%2F13240&amp;data=05%7C02%7Cdiana.novoa%40ansv.gov.co%7Cddee8b29c81f4c7ab15e08de94c53f5b%7C33fa690721c64126aa66bcbed95361bb%7C0%7C0%7C639111772052232398%7CUnknown%7CTWFpbGZsb3d8eyJFbXB0eU1hcGkiOnRydWUsIlYiOiIwLjAuMDAwMCIsIlAiOiJXaW4zMiIsIkFOIjoiTWFpbCIsIldUIjoyfQ%3D%3D%7C0%7C%7C%7C&amp;sdata=T4e9oV8kpjCIkhSJguAoHI80qRE2syVNUbL1anFSkXo%3D&amp;reserved=0"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3">
            <a:extLst>
              <a:ext uri="{FF2B5EF4-FFF2-40B4-BE49-F238E27FC236}">
                <a16:creationId xmlns:a16="http://schemas.microsoft.com/office/drawing/2014/main" id="{50703695-DCC9-2B2B-CE25-CD632F0261C9}"/>
              </a:ext>
            </a:extLst>
          </p:cNvPr>
          <p:cNvSpPr txBox="1">
            <a:spLocks/>
          </p:cNvSpPr>
          <p:nvPr/>
        </p:nvSpPr>
        <p:spPr>
          <a:xfrm>
            <a:off x="452820" y="2413095"/>
            <a:ext cx="5238296" cy="1752236"/>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Verdana" panose="020B0604030504040204" pitchFamily="34" charset="0"/>
                <a:ea typeface="+mj-ea"/>
                <a:cs typeface="+mj-cs"/>
              </a:defRPr>
            </a:lvl1pPr>
          </a:lstStyle>
          <a:p>
            <a:pPr algn="just"/>
            <a:endParaRPr lang="es-CO" sz="1800" b="1" dirty="0">
              <a:solidFill>
                <a:schemeClr val="bg1"/>
              </a:solidFill>
              <a:latin typeface="Nunito Sans Normal"/>
            </a:endParaRPr>
          </a:p>
        </p:txBody>
      </p:sp>
      <p:cxnSp>
        <p:nvCxnSpPr>
          <p:cNvPr id="9" name="Conector recto 8">
            <a:extLst>
              <a:ext uri="{FF2B5EF4-FFF2-40B4-BE49-F238E27FC236}">
                <a16:creationId xmlns:a16="http://schemas.microsoft.com/office/drawing/2014/main" id="{FA887B0B-4498-6AF0-00DD-AEE52D0F0164}"/>
              </a:ext>
            </a:extLst>
          </p:cNvPr>
          <p:cNvCxnSpPr>
            <a:cxnSpLocks/>
          </p:cNvCxnSpPr>
          <p:nvPr/>
        </p:nvCxnSpPr>
        <p:spPr>
          <a:xfrm>
            <a:off x="1842100" y="4206895"/>
            <a:ext cx="53435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E00D658D-1897-A198-A6DD-7A22F75398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2247" y="1111430"/>
            <a:ext cx="1659506" cy="1032582"/>
          </a:xfrm>
          <a:prstGeom prst="rect">
            <a:avLst/>
          </a:prstGeom>
        </p:spPr>
      </p:pic>
      <p:sp>
        <p:nvSpPr>
          <p:cNvPr id="3" name="Título 3">
            <a:extLst>
              <a:ext uri="{FF2B5EF4-FFF2-40B4-BE49-F238E27FC236}">
                <a16:creationId xmlns:a16="http://schemas.microsoft.com/office/drawing/2014/main" id="{4710554B-68F6-3CFD-0BE7-0E3C76BE714E}"/>
              </a:ext>
            </a:extLst>
          </p:cNvPr>
          <p:cNvSpPr txBox="1">
            <a:spLocks/>
          </p:cNvSpPr>
          <p:nvPr/>
        </p:nvSpPr>
        <p:spPr>
          <a:xfrm>
            <a:off x="4098062" y="5151054"/>
            <a:ext cx="947874" cy="384453"/>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Verdana" panose="020B0604030504040204" pitchFamily="34" charset="0"/>
                <a:ea typeface="+mj-ea"/>
                <a:cs typeface="+mj-cs"/>
              </a:defRPr>
            </a:lvl1pPr>
          </a:lstStyle>
          <a:p>
            <a:pPr algn="just"/>
            <a:r>
              <a:rPr lang="es-CO" sz="1800" b="1" dirty="0">
                <a:solidFill>
                  <a:schemeClr val="bg1"/>
                </a:solidFill>
                <a:latin typeface="Nunito Sans Normal" pitchFamily="2" charset="77"/>
              </a:rPr>
              <a:t>2026</a:t>
            </a:r>
          </a:p>
        </p:txBody>
      </p:sp>
      <p:sp>
        <p:nvSpPr>
          <p:cNvPr id="7" name="CuadroTexto 6">
            <a:extLst>
              <a:ext uri="{FF2B5EF4-FFF2-40B4-BE49-F238E27FC236}">
                <a16:creationId xmlns:a16="http://schemas.microsoft.com/office/drawing/2014/main" id="{2619F019-6A3E-6A42-C89A-FFCAEA3CF0EC}"/>
              </a:ext>
            </a:extLst>
          </p:cNvPr>
          <p:cNvSpPr txBox="1"/>
          <p:nvPr/>
        </p:nvSpPr>
        <p:spPr>
          <a:xfrm>
            <a:off x="1822712" y="2526891"/>
            <a:ext cx="5498575" cy="2577629"/>
          </a:xfrm>
          <a:prstGeom prst="rect">
            <a:avLst/>
          </a:prstGeom>
          <a:noFill/>
        </p:spPr>
        <p:txBody>
          <a:bodyPr wrap="square">
            <a:spAutoFit/>
          </a:bodyPr>
          <a:lstStyle/>
          <a:p>
            <a:pPr algn="ctr"/>
            <a:r>
              <a:rPr lang="es-MX" b="1" dirty="0">
                <a:solidFill>
                  <a:schemeClr val="bg1"/>
                </a:solidFill>
              </a:rPr>
              <a:t>COMISIÓN DE VERIFICACIÓN</a:t>
            </a:r>
          </a:p>
          <a:p>
            <a:pPr algn="ctr"/>
            <a:endParaRPr lang="es-MX" sz="1200" b="1" dirty="0">
              <a:solidFill>
                <a:schemeClr val="bg1"/>
              </a:solidFill>
            </a:endParaRPr>
          </a:p>
          <a:p>
            <a:pPr algn="ctr"/>
            <a:r>
              <a:rPr lang="es-MX" b="1" dirty="0">
                <a:solidFill>
                  <a:schemeClr val="bg1"/>
                </a:solidFill>
              </a:rPr>
              <a:t>Convocatoria Pública Consejo Consultivo de Seguridad Vial – CCSV</a:t>
            </a:r>
          </a:p>
          <a:p>
            <a:pPr algn="ctr"/>
            <a:endParaRPr lang="es-MX" sz="1350" b="1" dirty="0">
              <a:solidFill>
                <a:schemeClr val="bg1"/>
              </a:solidFill>
            </a:endParaRPr>
          </a:p>
          <a:p>
            <a:pPr algn="ctr"/>
            <a:r>
              <a:rPr lang="es-MX" b="1" dirty="0">
                <a:solidFill>
                  <a:schemeClr val="bg1"/>
                </a:solidFill>
              </a:rPr>
              <a:t>Periodo 2026–2028</a:t>
            </a:r>
          </a:p>
          <a:p>
            <a:pPr algn="ctr"/>
            <a:endParaRPr lang="es-MX" sz="2800" b="1" dirty="0">
              <a:solidFill>
                <a:schemeClr val="bg1"/>
              </a:solidFill>
            </a:endParaRPr>
          </a:p>
          <a:p>
            <a:pPr algn="ctr"/>
            <a:r>
              <a:rPr lang="es-MX" dirty="0">
                <a:solidFill>
                  <a:schemeClr val="bg1"/>
                </a:solidFill>
              </a:rPr>
              <a:t>Dirección de Coordinación Interinstitucional – DCI</a:t>
            </a:r>
            <a:br>
              <a:rPr lang="es-MX" dirty="0">
                <a:solidFill>
                  <a:schemeClr val="bg1"/>
                </a:solidFill>
              </a:rPr>
            </a:br>
            <a:r>
              <a:rPr lang="es-MX" dirty="0">
                <a:solidFill>
                  <a:schemeClr val="bg1"/>
                </a:solidFill>
              </a:rPr>
              <a:t>Agencia Nacional de Seguridad Vial – ANSV</a:t>
            </a:r>
          </a:p>
        </p:txBody>
      </p:sp>
    </p:spTree>
    <p:extLst>
      <p:ext uri="{BB962C8B-B14F-4D97-AF65-F5344CB8AC3E}">
        <p14:creationId xmlns:p14="http://schemas.microsoft.com/office/powerpoint/2010/main" val="384242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A1A5FE4-967D-8D95-309F-D918CF6176C9}"/>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3" name="CuadroTexto 2">
            <a:extLst>
              <a:ext uri="{FF2B5EF4-FFF2-40B4-BE49-F238E27FC236}">
                <a16:creationId xmlns:a16="http://schemas.microsoft.com/office/drawing/2014/main" id="{24847930-3D5F-F6D0-3308-5C6236574BE1}"/>
              </a:ext>
            </a:extLst>
          </p:cNvPr>
          <p:cNvSpPr txBox="1"/>
          <p:nvPr/>
        </p:nvSpPr>
        <p:spPr>
          <a:xfrm>
            <a:off x="1378339" y="1529364"/>
            <a:ext cx="4763497" cy="400110"/>
          </a:xfrm>
          <a:prstGeom prst="rect">
            <a:avLst/>
          </a:prstGeom>
          <a:noFill/>
        </p:spPr>
        <p:txBody>
          <a:bodyPr wrap="square" rtlCol="0">
            <a:spAutoFit/>
          </a:bodyPr>
          <a:lstStyle/>
          <a:p>
            <a:r>
              <a:rPr lang="es-CO" sz="2000" b="1" dirty="0">
                <a:solidFill>
                  <a:schemeClr val="accent1">
                    <a:lumMod val="50000"/>
                  </a:schemeClr>
                </a:solidFill>
                <a:latin typeface="Nunito Sans Normal Black" pitchFamily="2" charset="77"/>
                <a:cs typeface="Times New Roman" panose="02020603050405020304" pitchFamily="18" charset="0"/>
              </a:rPr>
              <a:t>OBJETIVO </a:t>
            </a:r>
            <a:endParaRPr lang="es-CO" sz="2800" b="1" dirty="0">
              <a:solidFill>
                <a:schemeClr val="accent2">
                  <a:lumMod val="75000"/>
                </a:schemeClr>
              </a:solidFill>
              <a:latin typeface="Nunito Sans Normal Black" pitchFamily="2" charset="77"/>
            </a:endParaRPr>
          </a:p>
        </p:txBody>
      </p:sp>
      <p:sp>
        <p:nvSpPr>
          <p:cNvPr id="29" name="Rectángulo 28">
            <a:extLst>
              <a:ext uri="{FF2B5EF4-FFF2-40B4-BE49-F238E27FC236}">
                <a16:creationId xmlns:a16="http://schemas.microsoft.com/office/drawing/2014/main" id="{1FEC61D5-32AF-415D-8BEE-BEA5F408A8FA}"/>
              </a:ext>
            </a:extLst>
          </p:cNvPr>
          <p:cNvSpPr/>
          <p:nvPr/>
        </p:nvSpPr>
        <p:spPr>
          <a:xfrm>
            <a:off x="662174" y="1670340"/>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sp>
        <p:nvSpPr>
          <p:cNvPr id="16" name="Rectángulo 15">
            <a:extLst>
              <a:ext uri="{FF2B5EF4-FFF2-40B4-BE49-F238E27FC236}">
                <a16:creationId xmlns:a16="http://schemas.microsoft.com/office/drawing/2014/main" id="{39EB4913-5292-8E8C-060A-44A82A25F710}"/>
              </a:ext>
            </a:extLst>
          </p:cNvPr>
          <p:cNvSpPr/>
          <p:nvPr/>
        </p:nvSpPr>
        <p:spPr>
          <a:xfrm rot="5400000">
            <a:off x="6587813" y="3412569"/>
            <a:ext cx="4811417" cy="9599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8" name="CuadroTexto 7">
            <a:extLst>
              <a:ext uri="{FF2B5EF4-FFF2-40B4-BE49-F238E27FC236}">
                <a16:creationId xmlns:a16="http://schemas.microsoft.com/office/drawing/2014/main" id="{9C8B9904-ED43-E92F-0BB5-8B35FD09EA69}"/>
              </a:ext>
            </a:extLst>
          </p:cNvPr>
          <p:cNvSpPr txBox="1"/>
          <p:nvPr/>
        </p:nvSpPr>
        <p:spPr>
          <a:xfrm>
            <a:off x="1378339" y="2492756"/>
            <a:ext cx="7663178" cy="3046988"/>
          </a:xfrm>
          <a:prstGeom prst="rect">
            <a:avLst/>
          </a:prstGeom>
          <a:noFill/>
        </p:spPr>
        <p:txBody>
          <a:bodyPr wrap="square">
            <a:spAutoFit/>
          </a:bodyPr>
          <a:lstStyle/>
          <a:p>
            <a:pPr>
              <a:buNone/>
            </a:pPr>
            <a:r>
              <a:rPr lang="es-MX" sz="2400" dirty="0">
                <a:solidFill>
                  <a:schemeClr val="tx2">
                    <a:lumMod val="75000"/>
                  </a:schemeClr>
                </a:solidFill>
              </a:rPr>
              <a:t>Socializar al equipo designado como Comisión de Verificación:</a:t>
            </a:r>
          </a:p>
          <a:p>
            <a:pPr>
              <a:buNone/>
            </a:pPr>
            <a:endParaRPr lang="es-MX" sz="2400" dirty="0">
              <a:solidFill>
                <a:schemeClr val="tx2">
                  <a:lumMod val="75000"/>
                </a:schemeClr>
              </a:solidFill>
            </a:endParaRPr>
          </a:p>
          <a:p>
            <a:pPr>
              <a:buFont typeface="Arial" panose="020B0604020202020204" pitchFamily="34" charset="0"/>
              <a:buChar char="•"/>
            </a:pPr>
            <a:r>
              <a:rPr lang="es-MX" sz="2400" dirty="0">
                <a:solidFill>
                  <a:schemeClr val="tx2">
                    <a:lumMod val="75000"/>
                  </a:schemeClr>
                </a:solidFill>
              </a:rPr>
              <a:t>  alcance de la convocatoria pública; </a:t>
            </a:r>
          </a:p>
          <a:p>
            <a:pPr>
              <a:buFont typeface="Arial" panose="020B0604020202020204" pitchFamily="34" charset="0"/>
              <a:buChar char="•"/>
            </a:pPr>
            <a:r>
              <a:rPr lang="es-MX" sz="2400" dirty="0">
                <a:solidFill>
                  <a:schemeClr val="tx2">
                    <a:lumMod val="75000"/>
                  </a:schemeClr>
                </a:solidFill>
              </a:rPr>
              <a:t>  marco normativo aplicable; </a:t>
            </a:r>
          </a:p>
          <a:p>
            <a:pPr>
              <a:buFont typeface="Arial" panose="020B0604020202020204" pitchFamily="34" charset="0"/>
              <a:buChar char="•"/>
            </a:pPr>
            <a:r>
              <a:rPr lang="es-MX" sz="2400" dirty="0">
                <a:solidFill>
                  <a:schemeClr val="tx2">
                    <a:lumMod val="75000"/>
                  </a:schemeClr>
                </a:solidFill>
              </a:rPr>
              <a:t>  cronograma oficial; </a:t>
            </a:r>
          </a:p>
          <a:p>
            <a:pPr>
              <a:buFont typeface="Arial" panose="020B0604020202020204" pitchFamily="34" charset="0"/>
              <a:buChar char="•"/>
            </a:pPr>
            <a:r>
              <a:rPr lang="es-MX" sz="2400" dirty="0">
                <a:solidFill>
                  <a:schemeClr val="tx2">
                    <a:lumMod val="75000"/>
                  </a:schemeClr>
                </a:solidFill>
              </a:rPr>
              <a:t>  flujo operativo del proceso; </a:t>
            </a:r>
          </a:p>
          <a:p>
            <a:pPr>
              <a:buFont typeface="Arial" panose="020B0604020202020204" pitchFamily="34" charset="0"/>
              <a:buChar char="•"/>
            </a:pPr>
            <a:r>
              <a:rPr lang="es-MX" sz="2400" dirty="0">
                <a:solidFill>
                  <a:schemeClr val="tx2">
                    <a:lumMod val="75000"/>
                  </a:schemeClr>
                </a:solidFill>
              </a:rPr>
              <a:t>  funciones de verificación documental y control asignadas</a:t>
            </a:r>
            <a:r>
              <a:rPr lang="es-MX" sz="1600" dirty="0">
                <a:solidFill>
                  <a:schemeClr val="tx2">
                    <a:lumMod val="75000"/>
                  </a:schemeClr>
                </a:solidFill>
              </a:rPr>
              <a:t>. </a:t>
            </a:r>
          </a:p>
        </p:txBody>
      </p:sp>
    </p:spTree>
    <p:extLst>
      <p:ext uri="{BB962C8B-B14F-4D97-AF65-F5344CB8AC3E}">
        <p14:creationId xmlns:p14="http://schemas.microsoft.com/office/powerpoint/2010/main" val="1326844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A1A5FE4-967D-8D95-309F-D918CF6176C9}"/>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cxnSp>
        <p:nvCxnSpPr>
          <p:cNvPr id="5" name="Conector recto 4">
            <a:extLst>
              <a:ext uri="{FF2B5EF4-FFF2-40B4-BE49-F238E27FC236}">
                <a16:creationId xmlns:a16="http://schemas.microsoft.com/office/drawing/2014/main" id="{F1823865-F070-AF94-86A1-EF7758C76BEA}"/>
              </a:ext>
            </a:extLst>
          </p:cNvPr>
          <p:cNvCxnSpPr>
            <a:cxnSpLocks/>
          </p:cNvCxnSpPr>
          <p:nvPr/>
        </p:nvCxnSpPr>
        <p:spPr>
          <a:xfrm flipV="1">
            <a:off x="2300635" y="1965995"/>
            <a:ext cx="0" cy="3318387"/>
          </a:xfrm>
          <a:prstGeom prst="line">
            <a:avLst/>
          </a:prstGeom>
          <a:ln w="19050">
            <a:solidFill>
              <a:srgbClr val="EFC7B3"/>
            </a:solidFill>
            <a:prstDash val="dashDot"/>
          </a:ln>
        </p:spPr>
        <p:style>
          <a:lnRef idx="1">
            <a:schemeClr val="accent1"/>
          </a:lnRef>
          <a:fillRef idx="0">
            <a:schemeClr val="accent1"/>
          </a:fillRef>
          <a:effectRef idx="0">
            <a:schemeClr val="accent1"/>
          </a:effectRef>
          <a:fontRef idx="minor">
            <a:schemeClr val="tx1"/>
          </a:fontRef>
        </p:style>
      </p:cxnSp>
      <p:sp>
        <p:nvSpPr>
          <p:cNvPr id="25" name="Rectángulo 24">
            <a:extLst>
              <a:ext uri="{FF2B5EF4-FFF2-40B4-BE49-F238E27FC236}">
                <a16:creationId xmlns:a16="http://schemas.microsoft.com/office/drawing/2014/main" id="{78544261-FB60-F785-8C62-85307A083DC7}"/>
              </a:ext>
            </a:extLst>
          </p:cNvPr>
          <p:cNvSpPr/>
          <p:nvPr/>
        </p:nvSpPr>
        <p:spPr>
          <a:xfrm rot="5400000">
            <a:off x="6882512" y="352002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4" name="CuadroTexto 3">
            <a:extLst>
              <a:ext uri="{FF2B5EF4-FFF2-40B4-BE49-F238E27FC236}">
                <a16:creationId xmlns:a16="http://schemas.microsoft.com/office/drawing/2014/main" id="{C2B6A5EE-469D-591A-FA3B-C01F09B560C5}"/>
              </a:ext>
            </a:extLst>
          </p:cNvPr>
          <p:cNvSpPr txBox="1"/>
          <p:nvPr/>
        </p:nvSpPr>
        <p:spPr>
          <a:xfrm>
            <a:off x="2471941" y="1386115"/>
            <a:ext cx="5893069" cy="4539704"/>
          </a:xfrm>
          <a:prstGeom prst="rect">
            <a:avLst/>
          </a:prstGeom>
          <a:noFill/>
        </p:spPr>
        <p:txBody>
          <a:bodyPr wrap="square">
            <a:spAutoFit/>
          </a:bodyPr>
          <a:lstStyle/>
          <a:p>
            <a:r>
              <a:rPr lang="es-MX" sz="1500" b="1" dirty="0">
                <a:solidFill>
                  <a:schemeClr val="tx2">
                    <a:lumMod val="75000"/>
                  </a:schemeClr>
                </a:solidFill>
              </a:rPr>
              <a:t>Naturaleza</a:t>
            </a:r>
          </a:p>
          <a:p>
            <a:pPr algn="just"/>
            <a:r>
              <a:rPr lang="es-MX" sz="1500" dirty="0">
                <a:solidFill>
                  <a:schemeClr val="tx2">
                    <a:lumMod val="75000"/>
                  </a:schemeClr>
                </a:solidFill>
              </a:rPr>
              <a:t>El Consejo Consultivo de Seguridad Vial – CCSV nace con la Ley 1702 de 2013, específicamente en el numeral 15.4 del artículo 15, donde se establece como parte de la estructura de la Agencia Nacional de Seguridad Vial – ANSV.</a:t>
            </a:r>
          </a:p>
          <a:p>
            <a:pPr algn="just"/>
            <a:endParaRPr lang="es-MX" sz="1500" dirty="0">
              <a:solidFill>
                <a:schemeClr val="tx2">
                  <a:lumMod val="75000"/>
                </a:schemeClr>
              </a:solidFill>
            </a:endParaRPr>
          </a:p>
          <a:p>
            <a:pPr algn="just"/>
            <a:r>
              <a:rPr lang="es-MX" sz="1500" dirty="0">
                <a:solidFill>
                  <a:schemeClr val="tx2">
                    <a:lumMod val="75000"/>
                  </a:schemeClr>
                </a:solidFill>
              </a:rPr>
              <a:t>Así mismo, se define como un órgano consultivo, consejero y de participación público-privada en materia de seguridad vial.</a:t>
            </a:r>
          </a:p>
          <a:p>
            <a:pPr algn="just"/>
            <a:br>
              <a:rPr lang="es-MX" sz="1500" dirty="0">
                <a:solidFill>
                  <a:schemeClr val="tx2">
                    <a:lumMod val="75000"/>
                  </a:schemeClr>
                </a:solidFill>
              </a:rPr>
            </a:br>
            <a:endParaRPr lang="es-MX" sz="1500" dirty="0">
              <a:solidFill>
                <a:schemeClr val="tx2">
                  <a:lumMod val="75000"/>
                </a:schemeClr>
              </a:solidFill>
            </a:endParaRPr>
          </a:p>
          <a:p>
            <a:pPr algn="just"/>
            <a:r>
              <a:rPr lang="es-MX" sz="1500" b="1" dirty="0">
                <a:solidFill>
                  <a:schemeClr val="tx2">
                    <a:lumMod val="75000"/>
                  </a:schemeClr>
                </a:solidFill>
              </a:rPr>
              <a:t>Integración del Consejo</a:t>
            </a:r>
          </a:p>
          <a:p>
            <a:pPr algn="just"/>
            <a:r>
              <a:rPr lang="es-MX" sz="1500" dirty="0">
                <a:solidFill>
                  <a:schemeClr val="tx2">
                    <a:lumMod val="75000"/>
                  </a:schemeClr>
                </a:solidFill>
              </a:rPr>
              <a:t>Conforme a la Ley 1702 de 2013, modificada por la Ley 2222 de 2022, el Consejo Consultivo de Seguridad Vial – CCSV está integrado por siete (7) miembros:</a:t>
            </a:r>
          </a:p>
          <a:p>
            <a:pPr algn="just"/>
            <a:endParaRPr lang="es-MX" sz="1500" dirty="0">
              <a:solidFill>
                <a:schemeClr val="tx2">
                  <a:lumMod val="75000"/>
                </a:schemeClr>
              </a:solidFill>
            </a:endParaRPr>
          </a:p>
          <a:p>
            <a:pPr algn="just"/>
            <a:r>
              <a:rPr lang="es-MX" sz="1600" dirty="0">
                <a:solidFill>
                  <a:schemeClr val="tx2">
                    <a:lumMod val="75000"/>
                  </a:schemeClr>
                </a:solidFill>
              </a:rPr>
              <a:t>. 4 representantes de la sociedad civil</a:t>
            </a:r>
          </a:p>
          <a:p>
            <a:pPr algn="just"/>
            <a:r>
              <a:rPr lang="es-MX" sz="1600" dirty="0">
                <a:solidFill>
                  <a:schemeClr val="tx2">
                    <a:lumMod val="75000"/>
                  </a:schemeClr>
                </a:solidFill>
              </a:rPr>
              <a:t>. 1 representante de organismos de apoyo al tránsito</a:t>
            </a:r>
          </a:p>
          <a:p>
            <a:pPr algn="just"/>
            <a:r>
              <a:rPr lang="es-MX" sz="1600" dirty="0">
                <a:solidFill>
                  <a:schemeClr val="tx2">
                    <a:lumMod val="75000"/>
                  </a:schemeClr>
                </a:solidFill>
              </a:rPr>
              <a:t>. 1 representante del sector automotor</a:t>
            </a:r>
          </a:p>
          <a:p>
            <a:pPr algn="just"/>
            <a:r>
              <a:rPr lang="es-MX" sz="1600" dirty="0">
                <a:solidFill>
                  <a:schemeClr val="tx2">
                    <a:lumMod val="75000"/>
                  </a:schemeClr>
                </a:solidFill>
              </a:rPr>
              <a:t>. 1 representante académico o experto</a:t>
            </a:r>
          </a:p>
        </p:txBody>
      </p:sp>
      <p:sp>
        <p:nvSpPr>
          <p:cNvPr id="8" name="CuadroTexto 7">
            <a:extLst>
              <a:ext uri="{FF2B5EF4-FFF2-40B4-BE49-F238E27FC236}">
                <a16:creationId xmlns:a16="http://schemas.microsoft.com/office/drawing/2014/main" id="{B264EAF9-1515-71AD-6628-A92F0A3B3A71}"/>
              </a:ext>
            </a:extLst>
          </p:cNvPr>
          <p:cNvSpPr txBox="1"/>
          <p:nvPr/>
        </p:nvSpPr>
        <p:spPr>
          <a:xfrm>
            <a:off x="162612" y="3036585"/>
            <a:ext cx="2138023" cy="784830"/>
          </a:xfrm>
          <a:prstGeom prst="rect">
            <a:avLst/>
          </a:prstGeom>
          <a:noFill/>
        </p:spPr>
        <p:txBody>
          <a:bodyPr wrap="square">
            <a:spAutoFit/>
          </a:bodyPr>
          <a:lstStyle/>
          <a:p>
            <a:pPr algn="ctr">
              <a:buNone/>
            </a:pPr>
            <a:r>
              <a:rPr lang="es-MX" sz="1500" b="1" dirty="0">
                <a:solidFill>
                  <a:schemeClr val="accent2"/>
                </a:solidFill>
              </a:rPr>
              <a:t>CONSEJO CONSULTIVO DE SEGURIDAD VIAL</a:t>
            </a:r>
          </a:p>
        </p:txBody>
      </p:sp>
    </p:spTree>
    <p:extLst>
      <p:ext uri="{BB962C8B-B14F-4D97-AF65-F5344CB8AC3E}">
        <p14:creationId xmlns:p14="http://schemas.microsoft.com/office/powerpoint/2010/main" val="2968755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A1A5FE4-967D-8D95-309F-D918CF6176C9}"/>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cxnSp>
        <p:nvCxnSpPr>
          <p:cNvPr id="20" name="Conector recto 19">
            <a:extLst>
              <a:ext uri="{FF2B5EF4-FFF2-40B4-BE49-F238E27FC236}">
                <a16:creationId xmlns:a16="http://schemas.microsoft.com/office/drawing/2014/main" id="{862EAF59-97DC-2E62-CE19-7BCEFBA4BFD6}"/>
              </a:ext>
            </a:extLst>
          </p:cNvPr>
          <p:cNvCxnSpPr>
            <a:cxnSpLocks/>
          </p:cNvCxnSpPr>
          <p:nvPr/>
        </p:nvCxnSpPr>
        <p:spPr>
          <a:xfrm flipV="1">
            <a:off x="3099653" y="2377052"/>
            <a:ext cx="0" cy="2103896"/>
          </a:xfrm>
          <a:prstGeom prst="line">
            <a:avLst/>
          </a:prstGeom>
          <a:ln w="25400">
            <a:solidFill>
              <a:srgbClr val="D8723E"/>
            </a:solidFill>
          </a:ln>
        </p:spPr>
        <p:style>
          <a:lnRef idx="1">
            <a:schemeClr val="accent1"/>
          </a:lnRef>
          <a:fillRef idx="0">
            <a:schemeClr val="accent1"/>
          </a:fillRef>
          <a:effectRef idx="0">
            <a:schemeClr val="accent1"/>
          </a:effectRef>
          <a:fontRef idx="minor">
            <a:schemeClr val="tx1"/>
          </a:fontRef>
        </p:style>
      </p:cxnSp>
      <p:sp>
        <p:nvSpPr>
          <p:cNvPr id="25" name="Rectángulo 24">
            <a:extLst>
              <a:ext uri="{FF2B5EF4-FFF2-40B4-BE49-F238E27FC236}">
                <a16:creationId xmlns:a16="http://schemas.microsoft.com/office/drawing/2014/main" id="{78544261-FB60-F785-8C62-85307A083DC7}"/>
              </a:ext>
            </a:extLst>
          </p:cNvPr>
          <p:cNvSpPr/>
          <p:nvPr/>
        </p:nvSpPr>
        <p:spPr>
          <a:xfrm rot="5400000">
            <a:off x="6109128" y="3390337"/>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1FEC61D5-32AF-415D-8BEE-BEA5F408A8FA}"/>
              </a:ext>
            </a:extLst>
          </p:cNvPr>
          <p:cNvSpPr/>
          <p:nvPr/>
        </p:nvSpPr>
        <p:spPr>
          <a:xfrm>
            <a:off x="1198189" y="2451918"/>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solidFill>
                <a:schemeClr val="accent2"/>
              </a:solidFill>
            </a:endParaRPr>
          </a:p>
        </p:txBody>
      </p:sp>
      <p:sp>
        <p:nvSpPr>
          <p:cNvPr id="5" name="CuadroTexto 4">
            <a:extLst>
              <a:ext uri="{FF2B5EF4-FFF2-40B4-BE49-F238E27FC236}">
                <a16:creationId xmlns:a16="http://schemas.microsoft.com/office/drawing/2014/main" id="{04DDFA3B-BA88-C8DE-C0BB-3531ED1D8E1A}"/>
              </a:ext>
            </a:extLst>
          </p:cNvPr>
          <p:cNvSpPr txBox="1"/>
          <p:nvPr/>
        </p:nvSpPr>
        <p:spPr>
          <a:xfrm>
            <a:off x="3615244" y="2251577"/>
            <a:ext cx="3703659" cy="2923877"/>
          </a:xfrm>
          <a:prstGeom prst="rect">
            <a:avLst/>
          </a:prstGeom>
          <a:noFill/>
        </p:spPr>
        <p:txBody>
          <a:bodyPr wrap="square">
            <a:spAutoFit/>
          </a:bodyPr>
          <a:lstStyle/>
          <a:p>
            <a:pPr algn="just">
              <a:buNone/>
            </a:pPr>
            <a:r>
              <a:rPr lang="es-MX" sz="2400" b="1" dirty="0">
                <a:solidFill>
                  <a:schemeClr val="tx2">
                    <a:lumMod val="75000"/>
                  </a:schemeClr>
                </a:solidFill>
              </a:rPr>
              <a:t>Normativa aplicable</a:t>
            </a:r>
          </a:p>
          <a:p>
            <a:pPr algn="just">
              <a:buNone/>
            </a:pPr>
            <a:endParaRPr lang="es-MX" sz="1600" b="1" dirty="0">
              <a:solidFill>
                <a:schemeClr val="tx2">
                  <a:lumMod val="75000"/>
                </a:schemeClr>
              </a:solidFill>
            </a:endParaRPr>
          </a:p>
          <a:p>
            <a:pPr algn="just">
              <a:buFont typeface="Arial" panose="020B0604020202020204" pitchFamily="34" charset="0"/>
              <a:buChar char="•"/>
            </a:pPr>
            <a:r>
              <a:rPr lang="es-MX" sz="2400" dirty="0">
                <a:solidFill>
                  <a:schemeClr val="tx2">
                    <a:lumMod val="75000"/>
                  </a:schemeClr>
                </a:solidFill>
              </a:rPr>
              <a:t>Ley 1702 de 2013,</a:t>
            </a:r>
          </a:p>
          <a:p>
            <a:pPr algn="just">
              <a:buFont typeface="Arial" panose="020B0604020202020204" pitchFamily="34" charset="0"/>
              <a:buChar char="•"/>
            </a:pPr>
            <a:r>
              <a:rPr lang="es-MX" sz="2400" dirty="0">
                <a:solidFill>
                  <a:schemeClr val="tx2">
                    <a:lumMod val="75000"/>
                  </a:schemeClr>
                </a:solidFill>
              </a:rPr>
              <a:t>Ley 2222 de 2022. </a:t>
            </a:r>
          </a:p>
          <a:p>
            <a:pPr algn="just">
              <a:buFont typeface="Arial" panose="020B0604020202020204" pitchFamily="34" charset="0"/>
              <a:buChar char="•"/>
            </a:pPr>
            <a:r>
              <a:rPr lang="es-MX" sz="2400" b="1" dirty="0">
                <a:solidFill>
                  <a:schemeClr val="tx2">
                    <a:lumMod val="75000"/>
                  </a:schemeClr>
                </a:solidFill>
              </a:rPr>
              <a:t>Resolución 842 de 2022. </a:t>
            </a:r>
          </a:p>
          <a:p>
            <a:pPr algn="just">
              <a:buFont typeface="Arial" panose="020B0604020202020204" pitchFamily="34" charset="0"/>
              <a:buChar char="•"/>
            </a:pPr>
            <a:r>
              <a:rPr lang="es-MX" sz="2400" dirty="0">
                <a:solidFill>
                  <a:schemeClr val="tx2">
                    <a:lumMod val="75000"/>
                  </a:schemeClr>
                </a:solidFill>
              </a:rPr>
              <a:t>Resolución 479 de 2026. </a:t>
            </a:r>
          </a:p>
          <a:p>
            <a:pPr algn="just">
              <a:buFont typeface="Arial" panose="020B0604020202020204" pitchFamily="34" charset="0"/>
              <a:buChar char="•"/>
            </a:pPr>
            <a:r>
              <a:rPr lang="es-MX" sz="2400" dirty="0">
                <a:solidFill>
                  <a:schemeClr val="tx2">
                    <a:lumMod val="75000"/>
                  </a:schemeClr>
                </a:solidFill>
              </a:rPr>
              <a:t>Resolución 480 de 2026. </a:t>
            </a:r>
          </a:p>
          <a:p>
            <a:pPr algn="just">
              <a:buFont typeface="Arial" panose="020B0604020202020204" pitchFamily="34" charset="0"/>
              <a:buChar char="•"/>
            </a:pPr>
            <a:r>
              <a:rPr lang="es-MX" sz="2400" dirty="0">
                <a:solidFill>
                  <a:schemeClr val="tx2">
                    <a:lumMod val="75000"/>
                  </a:schemeClr>
                </a:solidFill>
              </a:rPr>
              <a:t>Ley 1437 de 2011.</a:t>
            </a:r>
          </a:p>
        </p:txBody>
      </p:sp>
      <p:sp>
        <p:nvSpPr>
          <p:cNvPr id="7" name="CuadroTexto 6">
            <a:extLst>
              <a:ext uri="{FF2B5EF4-FFF2-40B4-BE49-F238E27FC236}">
                <a16:creationId xmlns:a16="http://schemas.microsoft.com/office/drawing/2014/main" id="{6DAF0A6B-36D4-659D-F266-E7D00482F72F}"/>
              </a:ext>
            </a:extLst>
          </p:cNvPr>
          <p:cNvSpPr txBox="1"/>
          <p:nvPr/>
        </p:nvSpPr>
        <p:spPr>
          <a:xfrm>
            <a:off x="415637" y="3142892"/>
            <a:ext cx="2484511" cy="400110"/>
          </a:xfrm>
          <a:prstGeom prst="rect">
            <a:avLst/>
          </a:prstGeom>
          <a:noFill/>
        </p:spPr>
        <p:txBody>
          <a:bodyPr wrap="square">
            <a:spAutoFit/>
          </a:bodyPr>
          <a:lstStyle/>
          <a:p>
            <a:pPr>
              <a:buNone/>
            </a:pPr>
            <a:r>
              <a:rPr lang="es-MX" sz="2000" b="1" dirty="0">
                <a:solidFill>
                  <a:schemeClr val="accent2"/>
                </a:solidFill>
              </a:rPr>
              <a:t>MARCO NORMATIVO</a:t>
            </a:r>
          </a:p>
        </p:txBody>
      </p:sp>
    </p:spTree>
    <p:extLst>
      <p:ext uri="{BB962C8B-B14F-4D97-AF65-F5344CB8AC3E}">
        <p14:creationId xmlns:p14="http://schemas.microsoft.com/office/powerpoint/2010/main" val="340235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1546E-B43B-A3C5-23F2-466B391EB89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5571FAD-DAC9-9EC8-1B77-C09981B11A73}"/>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pic>
        <p:nvPicPr>
          <p:cNvPr id="24" name="Imagen 23">
            <a:extLst>
              <a:ext uri="{FF2B5EF4-FFF2-40B4-BE49-F238E27FC236}">
                <a16:creationId xmlns:a16="http://schemas.microsoft.com/office/drawing/2014/main" id="{00B577A5-5F05-05AC-07B6-6FAE2644B1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0580" y="4571601"/>
            <a:ext cx="692498" cy="692498"/>
          </a:xfrm>
          <a:prstGeom prst="rect">
            <a:avLst/>
          </a:prstGeom>
        </p:spPr>
      </p:pic>
      <p:sp>
        <p:nvSpPr>
          <p:cNvPr id="25" name="Rectángulo 24">
            <a:extLst>
              <a:ext uri="{FF2B5EF4-FFF2-40B4-BE49-F238E27FC236}">
                <a16:creationId xmlns:a16="http://schemas.microsoft.com/office/drawing/2014/main" id="{31C6AC8B-B9E2-AA5E-4612-D72655BE3992}"/>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cxnSp>
        <p:nvCxnSpPr>
          <p:cNvPr id="3" name="Conector recto 2">
            <a:extLst>
              <a:ext uri="{FF2B5EF4-FFF2-40B4-BE49-F238E27FC236}">
                <a16:creationId xmlns:a16="http://schemas.microsoft.com/office/drawing/2014/main" id="{14A21FB9-E3F4-B5BC-4914-77C92AA91A80}"/>
              </a:ext>
            </a:extLst>
          </p:cNvPr>
          <p:cNvCxnSpPr>
            <a:cxnSpLocks/>
          </p:cNvCxnSpPr>
          <p:nvPr/>
        </p:nvCxnSpPr>
        <p:spPr>
          <a:xfrm flipV="1">
            <a:off x="3193171" y="2346694"/>
            <a:ext cx="0" cy="2103896"/>
          </a:xfrm>
          <a:prstGeom prst="line">
            <a:avLst/>
          </a:prstGeom>
          <a:ln w="25400">
            <a:solidFill>
              <a:srgbClr val="D8723E"/>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3010E61D-BE9F-E7F1-F13E-F6286E2E7003}"/>
              </a:ext>
            </a:extLst>
          </p:cNvPr>
          <p:cNvSpPr txBox="1"/>
          <p:nvPr/>
        </p:nvSpPr>
        <p:spPr>
          <a:xfrm>
            <a:off x="3271077" y="2346695"/>
            <a:ext cx="5099833" cy="2554545"/>
          </a:xfrm>
          <a:prstGeom prst="rect">
            <a:avLst/>
          </a:prstGeom>
          <a:noFill/>
        </p:spPr>
        <p:txBody>
          <a:bodyPr wrap="square">
            <a:spAutoFit/>
          </a:bodyPr>
          <a:lstStyle/>
          <a:p>
            <a:pPr>
              <a:buNone/>
            </a:pPr>
            <a:r>
              <a:rPr lang="es-MX" sz="1600" b="1" dirty="0">
                <a:solidFill>
                  <a:schemeClr val="tx2">
                    <a:lumMod val="75000"/>
                  </a:schemeClr>
                </a:solidFill>
              </a:rPr>
              <a:t>La presente convocatoria corresponde únicamente a:</a:t>
            </a:r>
          </a:p>
          <a:p>
            <a:pPr>
              <a:buNone/>
            </a:pPr>
            <a:endParaRPr lang="es-MX" sz="1600" b="1" dirty="0">
              <a:solidFill>
                <a:schemeClr val="tx2">
                  <a:lumMod val="75000"/>
                </a:schemeClr>
              </a:solidFill>
            </a:endParaRPr>
          </a:p>
          <a:p>
            <a:pPr>
              <a:buNone/>
            </a:pPr>
            <a:r>
              <a:rPr lang="es-MX" sz="1600" b="1" dirty="0">
                <a:solidFill>
                  <a:schemeClr val="tx2">
                    <a:lumMod val="75000"/>
                  </a:schemeClr>
                </a:solidFill>
              </a:rPr>
              <a:t>Representantes de la sociedad civil</a:t>
            </a:r>
          </a:p>
          <a:p>
            <a:pPr>
              <a:buFont typeface="Arial" panose="020B0604020202020204" pitchFamily="34" charset="0"/>
              <a:buChar char="•"/>
            </a:pPr>
            <a:r>
              <a:rPr lang="es-MX" sz="1600" dirty="0">
                <a:solidFill>
                  <a:schemeClr val="tx2">
                    <a:lumMod val="75000"/>
                  </a:schemeClr>
                </a:solidFill>
              </a:rPr>
              <a:t>Colectivos o asociaciones de motociclistas. </a:t>
            </a:r>
          </a:p>
          <a:p>
            <a:pPr>
              <a:buFont typeface="Arial" panose="020B0604020202020204" pitchFamily="34" charset="0"/>
              <a:buChar char="•"/>
            </a:pPr>
            <a:r>
              <a:rPr lang="es-MX" sz="1600" dirty="0">
                <a:solidFill>
                  <a:schemeClr val="tx2">
                    <a:lumMod val="75000"/>
                  </a:schemeClr>
                </a:solidFill>
              </a:rPr>
              <a:t>Colectivos o asociaciones de ciclistas. </a:t>
            </a:r>
          </a:p>
          <a:p>
            <a:pPr>
              <a:buFont typeface="Arial" panose="020B0604020202020204" pitchFamily="34" charset="0"/>
              <a:buChar char="•"/>
            </a:pPr>
            <a:r>
              <a:rPr lang="es-MX" sz="1600" dirty="0">
                <a:solidFill>
                  <a:schemeClr val="tx2">
                    <a:lumMod val="75000"/>
                  </a:schemeClr>
                </a:solidFill>
              </a:rPr>
              <a:t>Colectivos o asociaciones de peatones. </a:t>
            </a:r>
          </a:p>
          <a:p>
            <a:pPr>
              <a:buFont typeface="Arial" panose="020B0604020202020204" pitchFamily="34" charset="0"/>
              <a:buChar char="•"/>
            </a:pPr>
            <a:r>
              <a:rPr lang="es-MX" sz="1600" dirty="0">
                <a:solidFill>
                  <a:schemeClr val="tx2">
                    <a:lumMod val="75000"/>
                  </a:schemeClr>
                </a:solidFill>
              </a:rPr>
              <a:t>Colectivos o asociaciones de víctimas de siniestros viales. </a:t>
            </a:r>
          </a:p>
          <a:p>
            <a:pPr>
              <a:buNone/>
            </a:pPr>
            <a:endParaRPr lang="es-MX" sz="1600" b="1" dirty="0">
              <a:solidFill>
                <a:schemeClr val="tx2">
                  <a:lumMod val="75000"/>
                </a:schemeClr>
              </a:solidFill>
            </a:endParaRPr>
          </a:p>
          <a:p>
            <a:pPr>
              <a:buNone/>
            </a:pPr>
            <a:r>
              <a:rPr lang="es-MX" sz="1600" b="1" dirty="0">
                <a:solidFill>
                  <a:schemeClr val="tx2">
                    <a:lumMod val="75000"/>
                  </a:schemeClr>
                </a:solidFill>
              </a:rPr>
              <a:t>Periodo</a:t>
            </a:r>
          </a:p>
          <a:p>
            <a:pPr>
              <a:buNone/>
            </a:pPr>
            <a:r>
              <a:rPr lang="es-MX" sz="1600" dirty="0">
                <a:solidFill>
                  <a:schemeClr val="tx2">
                    <a:lumMod val="75000"/>
                  </a:schemeClr>
                </a:solidFill>
              </a:rPr>
              <a:t>2026–2028</a:t>
            </a:r>
          </a:p>
        </p:txBody>
      </p:sp>
      <p:sp>
        <p:nvSpPr>
          <p:cNvPr id="8" name="CuadroTexto 7">
            <a:extLst>
              <a:ext uri="{FF2B5EF4-FFF2-40B4-BE49-F238E27FC236}">
                <a16:creationId xmlns:a16="http://schemas.microsoft.com/office/drawing/2014/main" id="{0770CBD4-8DED-FFE7-AD47-348A59A2DF88}"/>
              </a:ext>
            </a:extLst>
          </p:cNvPr>
          <p:cNvSpPr txBox="1"/>
          <p:nvPr/>
        </p:nvSpPr>
        <p:spPr>
          <a:xfrm>
            <a:off x="366655" y="2885255"/>
            <a:ext cx="2826515" cy="553998"/>
          </a:xfrm>
          <a:prstGeom prst="rect">
            <a:avLst/>
          </a:prstGeom>
          <a:noFill/>
        </p:spPr>
        <p:txBody>
          <a:bodyPr wrap="square">
            <a:spAutoFit/>
          </a:bodyPr>
          <a:lstStyle/>
          <a:p>
            <a:pPr algn="ctr">
              <a:buNone/>
            </a:pPr>
            <a:r>
              <a:rPr lang="es-MX" sz="1500" b="1" dirty="0">
                <a:solidFill>
                  <a:schemeClr val="accent2"/>
                </a:solidFill>
              </a:rPr>
              <a:t>ALCANCE DE LA CONVOCATORIA 2026–2028</a:t>
            </a:r>
          </a:p>
        </p:txBody>
      </p:sp>
    </p:spTree>
    <p:extLst>
      <p:ext uri="{BB962C8B-B14F-4D97-AF65-F5344CB8AC3E}">
        <p14:creationId xmlns:p14="http://schemas.microsoft.com/office/powerpoint/2010/main" val="1587622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A1A5FE4-967D-8D95-309F-D918CF6176C9}"/>
              </a:ext>
            </a:extLst>
          </p:cNvPr>
          <p:cNvSpPr/>
          <p:nvPr/>
        </p:nvSpPr>
        <p:spPr>
          <a:xfrm>
            <a:off x="817001" y="1285554"/>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3" name="CuadroTexto 2">
            <a:extLst>
              <a:ext uri="{FF2B5EF4-FFF2-40B4-BE49-F238E27FC236}">
                <a16:creationId xmlns:a16="http://schemas.microsoft.com/office/drawing/2014/main" id="{24847930-3D5F-F6D0-3308-5C6236574BE1}"/>
              </a:ext>
            </a:extLst>
          </p:cNvPr>
          <p:cNvSpPr txBox="1"/>
          <p:nvPr/>
        </p:nvSpPr>
        <p:spPr>
          <a:xfrm>
            <a:off x="759973" y="834858"/>
            <a:ext cx="6168589" cy="507831"/>
          </a:xfrm>
          <a:prstGeom prst="rect">
            <a:avLst/>
          </a:prstGeom>
          <a:noFill/>
        </p:spPr>
        <p:txBody>
          <a:bodyPr wrap="square" rtlCol="0">
            <a:spAutoFit/>
          </a:bodyPr>
          <a:lstStyle/>
          <a:p>
            <a:pPr algn="ctr"/>
            <a:r>
              <a:rPr lang="es-MX" sz="2700" b="1" dirty="0">
                <a:solidFill>
                  <a:schemeClr val="accent1">
                    <a:lumMod val="75000"/>
                  </a:schemeClr>
                </a:solidFill>
              </a:rPr>
              <a:t>RESOLUCIÓN 479 del 22 de mayo de 2026</a:t>
            </a:r>
            <a:endParaRPr lang="es-CO" sz="2700" b="1" dirty="0">
              <a:solidFill>
                <a:schemeClr val="accent1">
                  <a:lumMod val="75000"/>
                </a:schemeClr>
              </a:solidFill>
              <a:latin typeface="Nunito Sans Normal Black" pitchFamily="2" charset="77"/>
            </a:endParaRPr>
          </a:p>
        </p:txBody>
      </p:sp>
      <p:sp>
        <p:nvSpPr>
          <p:cNvPr id="25" name="Rectángulo 24">
            <a:extLst>
              <a:ext uri="{FF2B5EF4-FFF2-40B4-BE49-F238E27FC236}">
                <a16:creationId xmlns:a16="http://schemas.microsoft.com/office/drawing/2014/main" id="{78544261-FB60-F785-8C62-85307A083DC7}"/>
              </a:ext>
            </a:extLst>
          </p:cNvPr>
          <p:cNvSpPr/>
          <p:nvPr/>
        </p:nvSpPr>
        <p:spPr>
          <a:xfrm rot="5400000">
            <a:off x="6730261" y="3405882"/>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1FEC61D5-32AF-415D-8BEE-BEA5F408A8FA}"/>
              </a:ext>
            </a:extLst>
          </p:cNvPr>
          <p:cNvSpPr/>
          <p:nvPr/>
        </p:nvSpPr>
        <p:spPr>
          <a:xfrm>
            <a:off x="158476" y="1102074"/>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sp>
        <p:nvSpPr>
          <p:cNvPr id="7" name="CuadroTexto 6">
            <a:extLst>
              <a:ext uri="{FF2B5EF4-FFF2-40B4-BE49-F238E27FC236}">
                <a16:creationId xmlns:a16="http://schemas.microsoft.com/office/drawing/2014/main" id="{5314B4BE-DAED-1283-606A-FEE04C0727E6}"/>
              </a:ext>
            </a:extLst>
          </p:cNvPr>
          <p:cNvSpPr txBox="1"/>
          <p:nvPr/>
        </p:nvSpPr>
        <p:spPr>
          <a:xfrm>
            <a:off x="759973" y="1569199"/>
            <a:ext cx="5158689" cy="5032147"/>
          </a:xfrm>
          <a:prstGeom prst="rect">
            <a:avLst/>
          </a:prstGeom>
          <a:noFill/>
        </p:spPr>
        <p:txBody>
          <a:bodyPr wrap="square">
            <a:spAutoFit/>
          </a:bodyPr>
          <a:lstStyle/>
          <a:p>
            <a:r>
              <a:rPr lang="es-MX" b="1" dirty="0">
                <a:solidFill>
                  <a:schemeClr val="accent2"/>
                </a:solidFill>
              </a:rPr>
              <a:t>Aspectos principales</a:t>
            </a:r>
          </a:p>
          <a:p>
            <a:endParaRPr lang="es-MX" sz="900" b="1" dirty="0">
              <a:solidFill>
                <a:schemeClr val="accent2"/>
              </a:solidFill>
            </a:endParaRPr>
          </a:p>
          <a:p>
            <a:r>
              <a:rPr lang="es-MX" sz="1900" dirty="0">
                <a:solidFill>
                  <a:schemeClr val="tx2">
                    <a:lumMod val="75000"/>
                  </a:schemeClr>
                </a:solidFill>
              </a:rPr>
              <a:t>La resolución:</a:t>
            </a:r>
          </a:p>
          <a:p>
            <a:r>
              <a:rPr lang="es-MX" sz="1900" dirty="0">
                <a:solidFill>
                  <a:schemeClr val="tx2">
                    <a:lumMod val="75000"/>
                  </a:schemeClr>
                </a:solidFill>
              </a:rPr>
              <a:t>modifica y adiciona la Resolución 842 de 2022; </a:t>
            </a:r>
          </a:p>
          <a:p>
            <a:r>
              <a:rPr lang="es-MX" sz="1900" dirty="0">
                <a:solidFill>
                  <a:schemeClr val="tx2">
                    <a:lumMod val="75000"/>
                  </a:schemeClr>
                </a:solidFill>
              </a:rPr>
              <a:t>reglamenta el proceso de: </a:t>
            </a:r>
          </a:p>
          <a:p>
            <a:pPr marL="557213" lvl="1" indent="-214313">
              <a:buFont typeface="Arial" panose="020B0604020202020204" pitchFamily="34" charset="0"/>
              <a:buChar char="•"/>
            </a:pPr>
            <a:r>
              <a:rPr lang="es-MX" sz="1900" dirty="0">
                <a:solidFill>
                  <a:schemeClr val="tx2">
                    <a:lumMod val="75000"/>
                  </a:schemeClr>
                </a:solidFill>
              </a:rPr>
              <a:t>convocatoria, </a:t>
            </a:r>
          </a:p>
          <a:p>
            <a:pPr marL="557213" lvl="1" indent="-214313">
              <a:buFont typeface="Arial" panose="020B0604020202020204" pitchFamily="34" charset="0"/>
              <a:buChar char="•"/>
            </a:pPr>
            <a:r>
              <a:rPr lang="es-MX" sz="1900" dirty="0">
                <a:solidFill>
                  <a:schemeClr val="tx2">
                    <a:lumMod val="75000"/>
                  </a:schemeClr>
                </a:solidFill>
              </a:rPr>
              <a:t>inscripción, </a:t>
            </a:r>
          </a:p>
          <a:p>
            <a:pPr marL="557213" lvl="1" indent="-214313">
              <a:buFont typeface="Arial" panose="020B0604020202020204" pitchFamily="34" charset="0"/>
              <a:buChar char="•"/>
            </a:pPr>
            <a:r>
              <a:rPr lang="es-MX" sz="1900" dirty="0">
                <a:solidFill>
                  <a:schemeClr val="tx2">
                    <a:lumMod val="75000"/>
                  </a:schemeClr>
                </a:solidFill>
              </a:rPr>
              <a:t>postulación, </a:t>
            </a:r>
          </a:p>
          <a:p>
            <a:pPr marL="557213" lvl="1" indent="-214313">
              <a:buFont typeface="Arial" panose="020B0604020202020204" pitchFamily="34" charset="0"/>
              <a:buChar char="•"/>
            </a:pPr>
            <a:r>
              <a:rPr lang="es-MX" sz="1900" dirty="0">
                <a:solidFill>
                  <a:schemeClr val="tx2">
                    <a:lumMod val="75000"/>
                  </a:schemeClr>
                </a:solidFill>
              </a:rPr>
              <a:t>elección, </a:t>
            </a:r>
          </a:p>
          <a:p>
            <a:pPr marL="557213" lvl="1" indent="-214313">
              <a:buFont typeface="Arial" panose="020B0604020202020204" pitchFamily="34" charset="0"/>
              <a:buChar char="•"/>
            </a:pPr>
            <a:r>
              <a:rPr lang="es-MX" sz="1900" dirty="0">
                <a:solidFill>
                  <a:schemeClr val="tx2">
                    <a:lumMod val="75000"/>
                  </a:schemeClr>
                </a:solidFill>
              </a:rPr>
              <a:t>y posesión. </a:t>
            </a:r>
          </a:p>
          <a:p>
            <a:pPr lvl="1"/>
            <a:endParaRPr lang="es-MX" dirty="0">
              <a:solidFill>
                <a:schemeClr val="accent2"/>
              </a:solidFill>
            </a:endParaRPr>
          </a:p>
          <a:p>
            <a:r>
              <a:rPr lang="es-MX" b="1" dirty="0">
                <a:solidFill>
                  <a:schemeClr val="accent2"/>
                </a:solidFill>
              </a:rPr>
              <a:t>Finalidad</a:t>
            </a:r>
          </a:p>
          <a:p>
            <a:endParaRPr lang="es-MX" sz="1100" b="1" dirty="0"/>
          </a:p>
          <a:p>
            <a:pPr marL="214313" indent="-214313">
              <a:buFont typeface="Arial" panose="020B0604020202020204" pitchFamily="34" charset="0"/>
              <a:buChar char="•"/>
            </a:pPr>
            <a:r>
              <a:rPr lang="es-MX" sz="1900" dirty="0">
                <a:solidFill>
                  <a:schemeClr val="tx2">
                    <a:lumMod val="75000"/>
                  </a:schemeClr>
                </a:solidFill>
              </a:rPr>
              <a:t>Garantizar un proceso:</a:t>
            </a:r>
          </a:p>
          <a:p>
            <a:pPr marL="214313" indent="-214313">
              <a:buFont typeface="Arial" panose="020B0604020202020204" pitchFamily="34" charset="0"/>
              <a:buChar char="•"/>
            </a:pPr>
            <a:r>
              <a:rPr lang="es-MX" sz="1900" dirty="0">
                <a:solidFill>
                  <a:schemeClr val="tx2">
                    <a:lumMod val="75000"/>
                  </a:schemeClr>
                </a:solidFill>
              </a:rPr>
              <a:t>transparente; </a:t>
            </a:r>
          </a:p>
          <a:p>
            <a:pPr marL="214313" indent="-214313">
              <a:buFont typeface="Arial" panose="020B0604020202020204" pitchFamily="34" charset="0"/>
              <a:buChar char="•"/>
            </a:pPr>
            <a:r>
              <a:rPr lang="es-MX" sz="1900" dirty="0">
                <a:solidFill>
                  <a:schemeClr val="tx2">
                    <a:lumMod val="75000"/>
                  </a:schemeClr>
                </a:solidFill>
              </a:rPr>
              <a:t>participativo; </a:t>
            </a:r>
          </a:p>
          <a:p>
            <a:pPr marL="214313" indent="-214313">
              <a:buFont typeface="Arial" panose="020B0604020202020204" pitchFamily="34" charset="0"/>
              <a:buChar char="•"/>
            </a:pPr>
            <a:r>
              <a:rPr lang="es-MX" sz="1900" dirty="0">
                <a:solidFill>
                  <a:schemeClr val="tx2">
                    <a:lumMod val="75000"/>
                  </a:schemeClr>
                </a:solidFill>
              </a:rPr>
              <a:t>verificable; </a:t>
            </a:r>
          </a:p>
          <a:p>
            <a:pPr marL="214313" indent="-214313">
              <a:buFont typeface="Arial" panose="020B0604020202020204" pitchFamily="34" charset="0"/>
              <a:buChar char="•"/>
            </a:pPr>
            <a:r>
              <a:rPr lang="es-MX" sz="1900" dirty="0">
                <a:solidFill>
                  <a:schemeClr val="tx2">
                    <a:lumMod val="75000"/>
                  </a:schemeClr>
                </a:solidFill>
              </a:rPr>
              <a:t>y con trazabilidad institucional.</a:t>
            </a:r>
          </a:p>
        </p:txBody>
      </p:sp>
      <p:pic>
        <p:nvPicPr>
          <p:cNvPr id="10" name="Gráfico 9" descr="Lista de comprobación con relleno sólido">
            <a:extLst>
              <a:ext uri="{FF2B5EF4-FFF2-40B4-BE49-F238E27FC236}">
                <a16:creationId xmlns:a16="http://schemas.microsoft.com/office/drawing/2014/main" id="{57186571-2DFA-570C-D471-D78E74CC5F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12432" y="2725760"/>
            <a:ext cx="1632260" cy="1632260"/>
          </a:xfrm>
          <a:prstGeom prst="rect">
            <a:avLst/>
          </a:prstGeom>
        </p:spPr>
      </p:pic>
    </p:spTree>
    <p:extLst>
      <p:ext uri="{BB962C8B-B14F-4D97-AF65-F5344CB8AC3E}">
        <p14:creationId xmlns:p14="http://schemas.microsoft.com/office/powerpoint/2010/main" val="264855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68DCB-433A-ED30-1E18-0CB6870B565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0F5BD71-EB13-E8F0-37DB-CD1BFECF9345}"/>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3" name="CuadroTexto 2">
            <a:extLst>
              <a:ext uri="{FF2B5EF4-FFF2-40B4-BE49-F238E27FC236}">
                <a16:creationId xmlns:a16="http://schemas.microsoft.com/office/drawing/2014/main" id="{901E67B2-C470-B53D-54EC-67FA7F1B47EF}"/>
              </a:ext>
            </a:extLst>
          </p:cNvPr>
          <p:cNvSpPr txBox="1"/>
          <p:nvPr/>
        </p:nvSpPr>
        <p:spPr>
          <a:xfrm>
            <a:off x="1426820" y="1279831"/>
            <a:ext cx="6168589" cy="507831"/>
          </a:xfrm>
          <a:prstGeom prst="rect">
            <a:avLst/>
          </a:prstGeom>
          <a:noFill/>
        </p:spPr>
        <p:txBody>
          <a:bodyPr wrap="square" rtlCol="0">
            <a:spAutoFit/>
          </a:bodyPr>
          <a:lstStyle/>
          <a:p>
            <a:pPr algn="ctr"/>
            <a:r>
              <a:rPr lang="es-MX" sz="2700" b="1" dirty="0">
                <a:solidFill>
                  <a:schemeClr val="accent1">
                    <a:lumMod val="75000"/>
                  </a:schemeClr>
                </a:solidFill>
              </a:rPr>
              <a:t>RESOLUCIÓN 479 de 22 de mayo de 2026</a:t>
            </a:r>
            <a:endParaRPr lang="es-CO" sz="2700" b="1" dirty="0">
              <a:solidFill>
                <a:schemeClr val="accent1">
                  <a:lumMod val="75000"/>
                </a:schemeClr>
              </a:solidFill>
              <a:latin typeface="Nunito Sans Normal Black" pitchFamily="2" charset="77"/>
            </a:endParaRPr>
          </a:p>
        </p:txBody>
      </p:sp>
      <p:sp>
        <p:nvSpPr>
          <p:cNvPr id="25" name="Rectángulo 24">
            <a:extLst>
              <a:ext uri="{FF2B5EF4-FFF2-40B4-BE49-F238E27FC236}">
                <a16:creationId xmlns:a16="http://schemas.microsoft.com/office/drawing/2014/main" id="{12CDB6E5-7186-F896-214E-14BFC8325A2F}"/>
              </a:ext>
            </a:extLst>
          </p:cNvPr>
          <p:cNvSpPr/>
          <p:nvPr/>
        </p:nvSpPr>
        <p:spPr>
          <a:xfrm rot="5400000">
            <a:off x="6730261" y="3405882"/>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76371B47-D45A-5158-2AD3-22AE1AFA9CEB}"/>
              </a:ext>
            </a:extLst>
          </p:cNvPr>
          <p:cNvSpPr/>
          <p:nvPr/>
        </p:nvSpPr>
        <p:spPr>
          <a:xfrm>
            <a:off x="817000" y="149005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sp>
        <p:nvSpPr>
          <p:cNvPr id="7" name="CuadroTexto 6">
            <a:extLst>
              <a:ext uri="{FF2B5EF4-FFF2-40B4-BE49-F238E27FC236}">
                <a16:creationId xmlns:a16="http://schemas.microsoft.com/office/drawing/2014/main" id="{2C57AF9F-29A9-D048-BD3D-B60BAB96D97A}"/>
              </a:ext>
            </a:extLst>
          </p:cNvPr>
          <p:cNvSpPr txBox="1"/>
          <p:nvPr/>
        </p:nvSpPr>
        <p:spPr>
          <a:xfrm>
            <a:off x="1399309" y="2211279"/>
            <a:ext cx="4858793" cy="2893100"/>
          </a:xfrm>
          <a:prstGeom prst="rect">
            <a:avLst/>
          </a:prstGeom>
          <a:noFill/>
        </p:spPr>
        <p:txBody>
          <a:bodyPr wrap="square">
            <a:spAutoFit/>
          </a:bodyPr>
          <a:lstStyle/>
          <a:p>
            <a:r>
              <a:rPr lang="es-MX" sz="2000" b="1" dirty="0">
                <a:solidFill>
                  <a:schemeClr val="accent2"/>
                </a:solidFill>
              </a:rPr>
              <a:t>- </a:t>
            </a:r>
            <a:r>
              <a:rPr lang="es-MX" sz="2200" b="1" dirty="0">
                <a:solidFill>
                  <a:schemeClr val="accent2"/>
                </a:solidFill>
              </a:rPr>
              <a:t>Aspectos relevantes incorporados</a:t>
            </a:r>
          </a:p>
          <a:p>
            <a:endParaRPr lang="es-MX" sz="2000" b="1" dirty="0"/>
          </a:p>
          <a:p>
            <a:pPr marL="257175" indent="-257175">
              <a:buFont typeface="Arial" panose="020B0604020202020204" pitchFamily="34" charset="0"/>
              <a:buChar char="•"/>
            </a:pPr>
            <a:r>
              <a:rPr lang="es-MX" sz="2000" dirty="0">
                <a:solidFill>
                  <a:schemeClr val="tx2">
                    <a:lumMod val="75000"/>
                  </a:schemeClr>
                </a:solidFill>
              </a:rPr>
              <a:t>Registro único de participantes</a:t>
            </a:r>
          </a:p>
          <a:p>
            <a:pPr marL="257175" indent="-257175">
              <a:buFont typeface="Arial" panose="020B0604020202020204" pitchFamily="34" charset="0"/>
              <a:buChar char="•"/>
            </a:pPr>
            <a:r>
              <a:rPr lang="es-MX" sz="2000" dirty="0">
                <a:solidFill>
                  <a:schemeClr val="tx2">
                    <a:lumMod val="75000"/>
                  </a:schemeClr>
                </a:solidFill>
              </a:rPr>
              <a:t>Uso de mecanismos virtuales (plataforma)</a:t>
            </a:r>
          </a:p>
          <a:p>
            <a:pPr marL="257175" indent="-257175">
              <a:buFont typeface="Arial" panose="020B0604020202020204" pitchFamily="34" charset="0"/>
              <a:buChar char="•"/>
            </a:pPr>
            <a:r>
              <a:rPr lang="es-MX" sz="2000" dirty="0">
                <a:solidFill>
                  <a:schemeClr val="tx2">
                    <a:lumMod val="75000"/>
                  </a:schemeClr>
                </a:solidFill>
              </a:rPr>
              <a:t>Tarjetón virtual</a:t>
            </a:r>
          </a:p>
          <a:p>
            <a:pPr marL="257175" indent="-257175">
              <a:buFont typeface="Arial" panose="020B0604020202020204" pitchFamily="34" charset="0"/>
              <a:buChar char="•"/>
            </a:pPr>
            <a:r>
              <a:rPr lang="es-MX" sz="2000" b="1" dirty="0">
                <a:solidFill>
                  <a:srgbClr val="FF7C1B"/>
                </a:solidFill>
                <a:effectLst>
                  <a:outerShdw blurRad="38100" dist="38100" dir="2700000" algn="tl">
                    <a:srgbClr val="000000">
                      <a:alpha val="43137"/>
                    </a:srgbClr>
                  </a:outerShdw>
                </a:effectLst>
              </a:rPr>
              <a:t>Comisión de verificación</a:t>
            </a:r>
          </a:p>
          <a:p>
            <a:pPr marL="257175" indent="-257175">
              <a:buFont typeface="Arial" panose="020B0604020202020204" pitchFamily="34" charset="0"/>
              <a:buChar char="•"/>
            </a:pPr>
            <a:r>
              <a:rPr lang="es-MX" sz="2000" dirty="0">
                <a:solidFill>
                  <a:schemeClr val="tx2">
                    <a:lumMod val="75000"/>
                  </a:schemeClr>
                </a:solidFill>
              </a:rPr>
              <a:t>Requisitos habilitantes</a:t>
            </a:r>
          </a:p>
          <a:p>
            <a:pPr marL="257175" indent="-257175">
              <a:buFont typeface="Arial" panose="020B0604020202020204" pitchFamily="34" charset="0"/>
              <a:buChar char="•"/>
            </a:pPr>
            <a:r>
              <a:rPr lang="es-MX" sz="2000" dirty="0">
                <a:solidFill>
                  <a:schemeClr val="tx2">
                    <a:lumMod val="75000"/>
                  </a:schemeClr>
                </a:solidFill>
              </a:rPr>
              <a:t>Criterios de desempate</a:t>
            </a:r>
          </a:p>
          <a:p>
            <a:pPr marL="257175" indent="-257175">
              <a:buFont typeface="Arial" panose="020B0604020202020204" pitchFamily="34" charset="0"/>
              <a:buChar char="•"/>
            </a:pPr>
            <a:r>
              <a:rPr lang="es-MX" sz="2000" dirty="0">
                <a:solidFill>
                  <a:schemeClr val="tx2">
                    <a:lumMod val="75000"/>
                  </a:schemeClr>
                </a:solidFill>
              </a:rPr>
              <a:t>Publicación oficial de resultados</a:t>
            </a:r>
          </a:p>
        </p:txBody>
      </p:sp>
      <p:pic>
        <p:nvPicPr>
          <p:cNvPr id="10" name="Gráfico 9" descr="Lista de comprobación con relleno sólido">
            <a:extLst>
              <a:ext uri="{FF2B5EF4-FFF2-40B4-BE49-F238E27FC236}">
                <a16:creationId xmlns:a16="http://schemas.microsoft.com/office/drawing/2014/main" id="{09557AF3-237A-5B95-B48A-1CE68FD5DE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6393" y="2908641"/>
            <a:ext cx="1632260" cy="1632260"/>
          </a:xfrm>
          <a:prstGeom prst="rect">
            <a:avLst/>
          </a:prstGeom>
        </p:spPr>
      </p:pic>
    </p:spTree>
    <p:extLst>
      <p:ext uri="{BB962C8B-B14F-4D97-AF65-F5344CB8AC3E}">
        <p14:creationId xmlns:p14="http://schemas.microsoft.com/office/powerpoint/2010/main" val="788113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4DFA3-50FB-065A-1687-351B8C76729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542E735-E580-3ECE-D021-B369D37645D6}"/>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3" name="CuadroTexto 2">
            <a:extLst>
              <a:ext uri="{FF2B5EF4-FFF2-40B4-BE49-F238E27FC236}">
                <a16:creationId xmlns:a16="http://schemas.microsoft.com/office/drawing/2014/main" id="{3E80B4A5-0E56-AE0E-0D0A-50C32A678B10}"/>
              </a:ext>
            </a:extLst>
          </p:cNvPr>
          <p:cNvSpPr txBox="1"/>
          <p:nvPr/>
        </p:nvSpPr>
        <p:spPr>
          <a:xfrm>
            <a:off x="1371601" y="1321941"/>
            <a:ext cx="6168589" cy="507831"/>
          </a:xfrm>
          <a:prstGeom prst="rect">
            <a:avLst/>
          </a:prstGeom>
          <a:noFill/>
        </p:spPr>
        <p:txBody>
          <a:bodyPr wrap="square" rtlCol="0">
            <a:spAutoFit/>
          </a:bodyPr>
          <a:lstStyle/>
          <a:p>
            <a:pPr algn="ctr"/>
            <a:r>
              <a:rPr lang="es-MX" sz="2700" b="1" dirty="0">
                <a:solidFill>
                  <a:schemeClr val="accent1">
                    <a:lumMod val="75000"/>
                  </a:schemeClr>
                </a:solidFill>
              </a:rPr>
              <a:t>RESOLUCIÓN 480 del 22 de mayo de 2026</a:t>
            </a:r>
            <a:endParaRPr lang="es-CO" sz="2700" b="1" dirty="0">
              <a:solidFill>
                <a:schemeClr val="accent1">
                  <a:lumMod val="75000"/>
                </a:schemeClr>
              </a:solidFill>
              <a:latin typeface="Nunito Sans Normal Black" pitchFamily="2" charset="77"/>
            </a:endParaRPr>
          </a:p>
        </p:txBody>
      </p:sp>
      <p:sp>
        <p:nvSpPr>
          <p:cNvPr id="25" name="Rectángulo 24">
            <a:extLst>
              <a:ext uri="{FF2B5EF4-FFF2-40B4-BE49-F238E27FC236}">
                <a16:creationId xmlns:a16="http://schemas.microsoft.com/office/drawing/2014/main" id="{28A8F6F1-53E1-C318-4333-DE46ADFBFCCF}"/>
              </a:ext>
            </a:extLst>
          </p:cNvPr>
          <p:cNvSpPr/>
          <p:nvPr/>
        </p:nvSpPr>
        <p:spPr>
          <a:xfrm rot="5400000">
            <a:off x="6821701" y="3390337"/>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DAA419F5-7B36-9D9F-614B-92E5F2D7D1AB}"/>
              </a:ext>
            </a:extLst>
          </p:cNvPr>
          <p:cNvSpPr/>
          <p:nvPr/>
        </p:nvSpPr>
        <p:spPr>
          <a:xfrm>
            <a:off x="817000" y="1574187"/>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pic>
        <p:nvPicPr>
          <p:cNvPr id="10" name="Gráfico 9" descr="Lista de comprobación con relleno sólido">
            <a:extLst>
              <a:ext uri="{FF2B5EF4-FFF2-40B4-BE49-F238E27FC236}">
                <a16:creationId xmlns:a16="http://schemas.microsoft.com/office/drawing/2014/main" id="{C77B9511-3D30-4A1D-48C7-5DEBE187D6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57505" y="2077613"/>
            <a:ext cx="1806827" cy="1806827"/>
          </a:xfrm>
          <a:prstGeom prst="rect">
            <a:avLst/>
          </a:prstGeom>
        </p:spPr>
      </p:pic>
      <p:sp>
        <p:nvSpPr>
          <p:cNvPr id="5" name="CuadroTexto 4">
            <a:extLst>
              <a:ext uri="{FF2B5EF4-FFF2-40B4-BE49-F238E27FC236}">
                <a16:creationId xmlns:a16="http://schemas.microsoft.com/office/drawing/2014/main" id="{E4671250-C45D-9C4F-073C-DB31759A95BE}"/>
              </a:ext>
            </a:extLst>
          </p:cNvPr>
          <p:cNvSpPr txBox="1"/>
          <p:nvPr/>
        </p:nvSpPr>
        <p:spPr>
          <a:xfrm>
            <a:off x="675683" y="2089761"/>
            <a:ext cx="7753422" cy="2862322"/>
          </a:xfrm>
          <a:prstGeom prst="rect">
            <a:avLst/>
          </a:prstGeom>
          <a:noFill/>
        </p:spPr>
        <p:txBody>
          <a:bodyPr wrap="square">
            <a:spAutoFit/>
          </a:bodyPr>
          <a:lstStyle/>
          <a:p>
            <a:pPr>
              <a:buNone/>
            </a:pPr>
            <a:r>
              <a:rPr lang="es-MX" sz="2400" b="1" dirty="0">
                <a:solidFill>
                  <a:schemeClr val="accent2"/>
                </a:solidFill>
              </a:rPr>
              <a:t>Apertura de convocatoria pública</a:t>
            </a:r>
          </a:p>
          <a:p>
            <a:pPr>
              <a:buNone/>
            </a:pPr>
            <a:endParaRPr lang="es-MX" sz="1600" b="1" dirty="0">
              <a:solidFill>
                <a:schemeClr val="tx2">
                  <a:lumMod val="75000"/>
                </a:schemeClr>
              </a:solidFill>
            </a:endParaRPr>
          </a:p>
          <a:p>
            <a:pPr>
              <a:buNone/>
            </a:pPr>
            <a:r>
              <a:rPr lang="es-MX" sz="2400" dirty="0">
                <a:solidFill>
                  <a:schemeClr val="tx2">
                    <a:lumMod val="75000"/>
                  </a:schemeClr>
                </a:solidFill>
              </a:rPr>
              <a:t>Ordena el inicio del proceso de:</a:t>
            </a:r>
          </a:p>
          <a:p>
            <a:pPr>
              <a:buNone/>
            </a:pPr>
            <a:endParaRPr lang="es-MX" sz="2000" dirty="0">
              <a:solidFill>
                <a:schemeClr val="tx2">
                  <a:lumMod val="75000"/>
                </a:schemeClr>
              </a:solidFill>
            </a:endParaRPr>
          </a:p>
          <a:p>
            <a:pPr>
              <a:buFont typeface="Arial" panose="020B0604020202020204" pitchFamily="34" charset="0"/>
              <a:buChar char="•"/>
            </a:pPr>
            <a:r>
              <a:rPr lang="es-MX" sz="2400" dirty="0">
                <a:solidFill>
                  <a:schemeClr val="tx2">
                    <a:lumMod val="75000"/>
                  </a:schemeClr>
                </a:solidFill>
              </a:rPr>
              <a:t> inscripción; </a:t>
            </a:r>
          </a:p>
          <a:p>
            <a:pPr>
              <a:buFont typeface="Arial" panose="020B0604020202020204" pitchFamily="34" charset="0"/>
              <a:buChar char="•"/>
            </a:pPr>
            <a:r>
              <a:rPr lang="es-MX" sz="2400" dirty="0">
                <a:solidFill>
                  <a:schemeClr val="tx2">
                    <a:lumMod val="75000"/>
                  </a:schemeClr>
                </a:solidFill>
              </a:rPr>
              <a:t> postulación; </a:t>
            </a:r>
          </a:p>
          <a:p>
            <a:pPr>
              <a:buFont typeface="Arial" panose="020B0604020202020204" pitchFamily="34" charset="0"/>
              <a:buChar char="•"/>
            </a:pPr>
            <a:r>
              <a:rPr lang="es-MX" sz="2400" dirty="0">
                <a:solidFill>
                  <a:schemeClr val="tx2">
                    <a:lumMod val="75000"/>
                  </a:schemeClr>
                </a:solidFill>
              </a:rPr>
              <a:t> elección; </a:t>
            </a:r>
          </a:p>
          <a:p>
            <a:r>
              <a:rPr lang="es-MX" sz="2400" dirty="0">
                <a:solidFill>
                  <a:schemeClr val="tx2">
                    <a:lumMod val="75000"/>
                  </a:schemeClr>
                </a:solidFill>
              </a:rPr>
              <a:t>y posesión de representantes de sociedad civil ante el </a:t>
            </a:r>
            <a:r>
              <a:rPr lang="es-MX" sz="2400" dirty="0">
                <a:solidFill>
                  <a:schemeClr val="tx2">
                    <a:lumMod val="75000"/>
                  </a:schemeClr>
                </a:solidFill>
                <a:effectLst>
                  <a:outerShdw blurRad="38100" dist="38100" dir="2700000" algn="tl">
                    <a:srgbClr val="000000">
                      <a:alpha val="43137"/>
                    </a:srgbClr>
                  </a:outerShdw>
                </a:effectLst>
              </a:rPr>
              <a:t>CCSV</a:t>
            </a:r>
            <a:r>
              <a:rPr lang="es-MX" sz="2400" dirty="0">
                <a:solidFill>
                  <a:schemeClr val="tx2">
                    <a:lumMod val="75000"/>
                  </a:schemeClr>
                </a:solidFill>
              </a:rPr>
              <a:t>.</a:t>
            </a:r>
          </a:p>
        </p:txBody>
      </p:sp>
    </p:spTree>
    <p:extLst>
      <p:ext uri="{BB962C8B-B14F-4D97-AF65-F5344CB8AC3E}">
        <p14:creationId xmlns:p14="http://schemas.microsoft.com/office/powerpoint/2010/main" val="4201728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A1A5FE4-967D-8D95-309F-D918CF6176C9}"/>
              </a:ext>
            </a:extLst>
          </p:cNvPr>
          <p:cNvSpPr/>
          <p:nvPr/>
        </p:nvSpPr>
        <p:spPr>
          <a:xfrm>
            <a:off x="1058961" y="1128664"/>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3" name="CuadroTexto 2">
            <a:extLst>
              <a:ext uri="{FF2B5EF4-FFF2-40B4-BE49-F238E27FC236}">
                <a16:creationId xmlns:a16="http://schemas.microsoft.com/office/drawing/2014/main" id="{24847930-3D5F-F6D0-3308-5C6236574BE1}"/>
              </a:ext>
            </a:extLst>
          </p:cNvPr>
          <p:cNvSpPr txBox="1"/>
          <p:nvPr/>
        </p:nvSpPr>
        <p:spPr>
          <a:xfrm>
            <a:off x="1741561" y="1349024"/>
            <a:ext cx="2594117" cy="369332"/>
          </a:xfrm>
          <a:prstGeom prst="rect">
            <a:avLst/>
          </a:prstGeom>
          <a:noFill/>
        </p:spPr>
        <p:txBody>
          <a:bodyPr wrap="square" rtlCol="0">
            <a:spAutoFit/>
          </a:bodyPr>
          <a:lstStyle/>
          <a:p>
            <a:r>
              <a:rPr lang="es-CO" b="1" dirty="0">
                <a:solidFill>
                  <a:schemeClr val="accent1">
                    <a:lumMod val="50000"/>
                  </a:schemeClr>
                </a:solidFill>
                <a:latin typeface="Nunito Sans Normal Black" pitchFamily="2" charset="77"/>
                <a:ea typeface="Calibri" panose="020F0502020204030204" pitchFamily="34" charset="0"/>
                <a:cs typeface="Times New Roman" panose="02020603050405020304" pitchFamily="18" charset="0"/>
              </a:rPr>
              <a:t>CRONOGRAMA OFICIAL </a:t>
            </a:r>
            <a:endParaRPr lang="es-CO" sz="2400" b="1" dirty="0">
              <a:solidFill>
                <a:schemeClr val="accent2">
                  <a:lumMod val="75000"/>
                </a:schemeClr>
              </a:solidFill>
              <a:latin typeface="Nunito Sans Normal Black" pitchFamily="2" charset="77"/>
            </a:endParaRPr>
          </a:p>
        </p:txBody>
      </p:sp>
      <p:sp>
        <p:nvSpPr>
          <p:cNvPr id="25" name="Rectángulo 24">
            <a:extLst>
              <a:ext uri="{FF2B5EF4-FFF2-40B4-BE49-F238E27FC236}">
                <a16:creationId xmlns:a16="http://schemas.microsoft.com/office/drawing/2014/main" id="{78544261-FB60-F785-8C62-85307A083DC7}"/>
              </a:ext>
            </a:extLst>
          </p:cNvPr>
          <p:cNvSpPr/>
          <p:nvPr/>
        </p:nvSpPr>
        <p:spPr>
          <a:xfrm rot="5400000">
            <a:off x="6604733" y="3350292"/>
            <a:ext cx="3765147" cy="1030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1FEC61D5-32AF-415D-8BEE-BEA5F408A8FA}"/>
              </a:ext>
            </a:extLst>
          </p:cNvPr>
          <p:cNvSpPr/>
          <p:nvPr/>
        </p:nvSpPr>
        <p:spPr>
          <a:xfrm>
            <a:off x="1088172" y="1489999"/>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82414276-1008-7898-1B51-5561F846C848}"/>
              </a:ext>
            </a:extLst>
          </p:cNvPr>
          <p:cNvCxnSpPr>
            <a:cxnSpLocks/>
          </p:cNvCxnSpPr>
          <p:nvPr/>
        </p:nvCxnSpPr>
        <p:spPr>
          <a:xfrm flipV="1">
            <a:off x="1365473" y="2647144"/>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7" name="Tabla 6">
            <a:extLst>
              <a:ext uri="{FF2B5EF4-FFF2-40B4-BE49-F238E27FC236}">
                <a16:creationId xmlns:a16="http://schemas.microsoft.com/office/drawing/2014/main" id="{BE6B5F38-8412-25F2-1B86-9D811B068269}"/>
              </a:ext>
            </a:extLst>
          </p:cNvPr>
          <p:cNvGraphicFramePr>
            <a:graphicFrameLocks noGrp="1"/>
          </p:cNvGraphicFramePr>
          <p:nvPr>
            <p:extLst>
              <p:ext uri="{D42A27DB-BD31-4B8C-83A1-F6EECF244321}">
                <p14:modId xmlns:p14="http://schemas.microsoft.com/office/powerpoint/2010/main" val="3504407135"/>
              </p:ext>
            </p:extLst>
          </p:nvPr>
        </p:nvGraphicFramePr>
        <p:xfrm>
          <a:off x="1571232" y="2315940"/>
          <a:ext cx="6271846" cy="2766304"/>
        </p:xfrm>
        <a:graphic>
          <a:graphicData uri="http://schemas.openxmlformats.org/drawingml/2006/table">
            <a:tbl>
              <a:tblPr>
                <a:tableStyleId>{5DA37D80-6434-44D0-A028-1B22A696006F}</a:tableStyleId>
              </a:tblPr>
              <a:tblGrid>
                <a:gridCol w="3135923">
                  <a:extLst>
                    <a:ext uri="{9D8B030D-6E8A-4147-A177-3AD203B41FA5}">
                      <a16:colId xmlns:a16="http://schemas.microsoft.com/office/drawing/2014/main" val="240228519"/>
                    </a:ext>
                  </a:extLst>
                </a:gridCol>
                <a:gridCol w="3135923">
                  <a:extLst>
                    <a:ext uri="{9D8B030D-6E8A-4147-A177-3AD203B41FA5}">
                      <a16:colId xmlns:a16="http://schemas.microsoft.com/office/drawing/2014/main" val="3397187601"/>
                    </a:ext>
                  </a:extLst>
                </a:gridCol>
              </a:tblGrid>
              <a:tr h="330903">
                <a:tc>
                  <a:txBody>
                    <a:bodyPr/>
                    <a:lstStyle/>
                    <a:p>
                      <a:pPr algn="ctr">
                        <a:buNone/>
                      </a:pPr>
                      <a:r>
                        <a:rPr lang="es-CO" sz="1800" b="1" dirty="0">
                          <a:solidFill>
                            <a:schemeClr val="accent1">
                              <a:lumMod val="75000"/>
                            </a:schemeClr>
                          </a:solidFill>
                        </a:rPr>
                        <a:t>ACTIVIDAD</a:t>
                      </a:r>
                    </a:p>
                  </a:txBody>
                  <a:tcPr marL="68580" marR="68580" marT="34290" marB="34290" anchor="ctr"/>
                </a:tc>
                <a:tc>
                  <a:txBody>
                    <a:bodyPr/>
                    <a:lstStyle/>
                    <a:p>
                      <a:pPr algn="ctr">
                        <a:buNone/>
                      </a:pPr>
                      <a:r>
                        <a:rPr lang="es-CO" sz="1800" b="1" dirty="0">
                          <a:solidFill>
                            <a:schemeClr val="accent1">
                              <a:lumMod val="75000"/>
                            </a:schemeClr>
                          </a:solidFill>
                        </a:rPr>
                        <a:t>FECHA</a:t>
                      </a:r>
                    </a:p>
                  </a:txBody>
                  <a:tcPr marL="68580" marR="68580" marT="34290" marB="34290" anchor="ctr"/>
                </a:tc>
                <a:extLst>
                  <a:ext uri="{0D108BD9-81ED-4DB2-BD59-A6C34878D82A}">
                    <a16:rowId xmlns:a16="http://schemas.microsoft.com/office/drawing/2014/main" val="3617762178"/>
                  </a:ext>
                </a:extLst>
              </a:tr>
              <a:tr h="330903">
                <a:tc>
                  <a:txBody>
                    <a:bodyPr/>
                    <a:lstStyle/>
                    <a:p>
                      <a:pPr>
                        <a:buNone/>
                      </a:pPr>
                      <a:r>
                        <a:rPr lang="es-CO" sz="1800" dirty="0"/>
                        <a:t>Divulgación convocatoria</a:t>
                      </a:r>
                    </a:p>
                  </a:txBody>
                  <a:tcPr marL="68580" marR="68580" marT="34290" marB="34290" anchor="ctr"/>
                </a:tc>
                <a:tc>
                  <a:txBody>
                    <a:bodyPr/>
                    <a:lstStyle/>
                    <a:p>
                      <a:pPr>
                        <a:buNone/>
                      </a:pPr>
                      <a:r>
                        <a:rPr lang="es-MX" sz="1800"/>
                        <a:t>23 al 30 mayo 2026</a:t>
                      </a:r>
                    </a:p>
                  </a:txBody>
                  <a:tcPr marL="68580" marR="68580" marT="34290" marB="34290" anchor="ctr"/>
                </a:tc>
                <a:extLst>
                  <a:ext uri="{0D108BD9-81ED-4DB2-BD59-A6C34878D82A}">
                    <a16:rowId xmlns:a16="http://schemas.microsoft.com/office/drawing/2014/main" val="789681922"/>
                  </a:ext>
                </a:extLst>
              </a:tr>
              <a:tr h="330903">
                <a:tc>
                  <a:txBody>
                    <a:bodyPr/>
                    <a:lstStyle/>
                    <a:p>
                      <a:pPr>
                        <a:buNone/>
                      </a:pPr>
                      <a:r>
                        <a:rPr lang="es-CO" sz="1800" i="1" dirty="0"/>
                        <a:t>Apertura postulaciones</a:t>
                      </a:r>
                    </a:p>
                  </a:txBody>
                  <a:tcPr marL="68580" marR="68580" marT="34290" marB="34290" anchor="ctr"/>
                </a:tc>
                <a:tc>
                  <a:txBody>
                    <a:bodyPr/>
                    <a:lstStyle/>
                    <a:p>
                      <a:pPr>
                        <a:buNone/>
                      </a:pPr>
                      <a:r>
                        <a:rPr lang="es-MX" sz="1800" i="1" dirty="0"/>
                        <a:t>1 al 4 junio 2026</a:t>
                      </a:r>
                    </a:p>
                  </a:txBody>
                  <a:tcPr marL="68580" marR="68580" marT="34290" marB="34290" anchor="ctr"/>
                </a:tc>
                <a:extLst>
                  <a:ext uri="{0D108BD9-81ED-4DB2-BD59-A6C34878D82A}">
                    <a16:rowId xmlns:a16="http://schemas.microsoft.com/office/drawing/2014/main" val="336585798"/>
                  </a:ext>
                </a:extLst>
              </a:tr>
              <a:tr h="353932">
                <a:tc>
                  <a:txBody>
                    <a:bodyPr/>
                    <a:lstStyle/>
                    <a:p>
                      <a:pPr>
                        <a:buNone/>
                      </a:pPr>
                      <a:r>
                        <a:rPr lang="es-CO" sz="1800"/>
                        <a:t>Publicación habilitados</a:t>
                      </a:r>
                    </a:p>
                  </a:txBody>
                  <a:tcPr marL="68580" marR="68580" marT="34290" marB="34290" anchor="ctr"/>
                </a:tc>
                <a:tc>
                  <a:txBody>
                    <a:bodyPr/>
                    <a:lstStyle/>
                    <a:p>
                      <a:pPr>
                        <a:buNone/>
                      </a:pPr>
                      <a:r>
                        <a:rPr lang="es-CO" sz="1800"/>
                        <a:t>5 junio 2026</a:t>
                      </a:r>
                    </a:p>
                  </a:txBody>
                  <a:tcPr marL="68580" marR="68580" marT="34290" marB="34290" anchor="ctr"/>
                </a:tc>
                <a:extLst>
                  <a:ext uri="{0D108BD9-81ED-4DB2-BD59-A6C34878D82A}">
                    <a16:rowId xmlns:a16="http://schemas.microsoft.com/office/drawing/2014/main" val="553438104"/>
                  </a:ext>
                </a:extLst>
              </a:tr>
              <a:tr h="330903">
                <a:tc>
                  <a:txBody>
                    <a:bodyPr/>
                    <a:lstStyle/>
                    <a:p>
                      <a:pPr>
                        <a:buNone/>
                      </a:pPr>
                      <a:r>
                        <a:rPr lang="es-CO" sz="1800" i="1" dirty="0"/>
                        <a:t>Registro votantes</a:t>
                      </a:r>
                    </a:p>
                  </a:txBody>
                  <a:tcPr marL="68580" marR="68580" marT="34290" marB="34290" anchor="ctr"/>
                </a:tc>
                <a:tc>
                  <a:txBody>
                    <a:bodyPr/>
                    <a:lstStyle/>
                    <a:p>
                      <a:pPr>
                        <a:buNone/>
                      </a:pPr>
                      <a:r>
                        <a:rPr lang="es-MX" sz="1800" i="1" dirty="0"/>
                        <a:t>9 y 10 junio 2026</a:t>
                      </a:r>
                    </a:p>
                  </a:txBody>
                  <a:tcPr marL="68580" marR="68580" marT="34290" marB="34290" anchor="ctr"/>
                </a:tc>
                <a:extLst>
                  <a:ext uri="{0D108BD9-81ED-4DB2-BD59-A6C34878D82A}">
                    <a16:rowId xmlns:a16="http://schemas.microsoft.com/office/drawing/2014/main" val="1056669857"/>
                  </a:ext>
                </a:extLst>
              </a:tr>
              <a:tr h="330903">
                <a:tc>
                  <a:txBody>
                    <a:bodyPr/>
                    <a:lstStyle/>
                    <a:p>
                      <a:pPr>
                        <a:buNone/>
                      </a:pPr>
                      <a:r>
                        <a:rPr lang="es-CO" sz="1800"/>
                        <a:t>Elección virtual</a:t>
                      </a:r>
                    </a:p>
                  </a:txBody>
                  <a:tcPr marL="68580" marR="68580" marT="34290" marB="34290" anchor="ctr"/>
                </a:tc>
                <a:tc>
                  <a:txBody>
                    <a:bodyPr/>
                    <a:lstStyle/>
                    <a:p>
                      <a:pPr>
                        <a:buNone/>
                      </a:pPr>
                      <a:r>
                        <a:rPr lang="es-CO" sz="1800" dirty="0"/>
                        <a:t>12 junio 2026</a:t>
                      </a:r>
                    </a:p>
                  </a:txBody>
                  <a:tcPr marL="68580" marR="68580" marT="34290" marB="34290" anchor="ctr"/>
                </a:tc>
                <a:extLst>
                  <a:ext uri="{0D108BD9-81ED-4DB2-BD59-A6C34878D82A}">
                    <a16:rowId xmlns:a16="http://schemas.microsoft.com/office/drawing/2014/main" val="511501911"/>
                  </a:ext>
                </a:extLst>
              </a:tr>
              <a:tr h="354972">
                <a:tc>
                  <a:txBody>
                    <a:bodyPr/>
                    <a:lstStyle/>
                    <a:p>
                      <a:pPr>
                        <a:buNone/>
                      </a:pPr>
                      <a:r>
                        <a:rPr lang="es-CO" sz="1800" i="1"/>
                        <a:t>Publicación resultados</a:t>
                      </a:r>
                    </a:p>
                  </a:txBody>
                  <a:tcPr marL="68580" marR="68580" marT="34290" marB="34290" anchor="ctr"/>
                </a:tc>
                <a:tc>
                  <a:txBody>
                    <a:bodyPr/>
                    <a:lstStyle/>
                    <a:p>
                      <a:pPr>
                        <a:buNone/>
                      </a:pPr>
                      <a:r>
                        <a:rPr lang="es-CO" sz="1800" i="1" dirty="0"/>
                        <a:t>12 junio 2026</a:t>
                      </a:r>
                    </a:p>
                  </a:txBody>
                  <a:tcPr marL="68580" marR="68580" marT="34290" marB="34290" anchor="ctr"/>
                </a:tc>
                <a:extLst>
                  <a:ext uri="{0D108BD9-81ED-4DB2-BD59-A6C34878D82A}">
                    <a16:rowId xmlns:a16="http://schemas.microsoft.com/office/drawing/2014/main" val="1571617059"/>
                  </a:ext>
                </a:extLst>
              </a:tr>
              <a:tr h="330903">
                <a:tc>
                  <a:txBody>
                    <a:bodyPr/>
                    <a:lstStyle/>
                    <a:p>
                      <a:pPr>
                        <a:buNone/>
                      </a:pPr>
                      <a:r>
                        <a:rPr lang="es-CO" sz="1800" dirty="0"/>
                        <a:t>Posesión</a:t>
                      </a:r>
                    </a:p>
                  </a:txBody>
                  <a:tcPr marL="68580" marR="68580" marT="34290" marB="34290" anchor="ctr"/>
                </a:tc>
                <a:tc>
                  <a:txBody>
                    <a:bodyPr/>
                    <a:lstStyle/>
                    <a:p>
                      <a:pPr>
                        <a:buNone/>
                      </a:pPr>
                      <a:r>
                        <a:rPr lang="es-MX" sz="1800" dirty="0"/>
                        <a:t>16 al 19 junio 2026</a:t>
                      </a:r>
                    </a:p>
                  </a:txBody>
                  <a:tcPr marL="68580" marR="68580" marT="34290" marB="34290" anchor="ctr"/>
                </a:tc>
                <a:extLst>
                  <a:ext uri="{0D108BD9-81ED-4DB2-BD59-A6C34878D82A}">
                    <a16:rowId xmlns:a16="http://schemas.microsoft.com/office/drawing/2014/main" val="546785613"/>
                  </a:ext>
                </a:extLst>
              </a:tr>
            </a:tbl>
          </a:graphicData>
        </a:graphic>
      </p:graphicFrame>
      <p:sp>
        <p:nvSpPr>
          <p:cNvPr id="12" name="CuadroTexto 11">
            <a:extLst>
              <a:ext uri="{FF2B5EF4-FFF2-40B4-BE49-F238E27FC236}">
                <a16:creationId xmlns:a16="http://schemas.microsoft.com/office/drawing/2014/main" id="{4E7C471E-37FA-39E9-A2C1-8F799F48BB53}"/>
              </a:ext>
            </a:extLst>
          </p:cNvPr>
          <p:cNvSpPr txBox="1"/>
          <p:nvPr/>
        </p:nvSpPr>
        <p:spPr>
          <a:xfrm>
            <a:off x="1506682" y="5284384"/>
            <a:ext cx="6271845" cy="307777"/>
          </a:xfrm>
          <a:prstGeom prst="rect">
            <a:avLst/>
          </a:prstGeom>
          <a:noFill/>
        </p:spPr>
        <p:txBody>
          <a:bodyPr wrap="square">
            <a:spAutoFit/>
          </a:bodyPr>
          <a:lstStyle/>
          <a:p>
            <a:r>
              <a:rPr lang="es-CO" sz="1400" dirty="0">
                <a:solidFill>
                  <a:srgbClr val="000000"/>
                </a:solidFill>
                <a:latin typeface="Aptos" panose="020B0004020202020204" pitchFamily="34" charset="0"/>
              </a:rPr>
              <a:t>Link: </a:t>
            </a:r>
            <a:r>
              <a:rPr lang="es-CO" sz="1350" b="1" u="sng" dirty="0">
                <a:solidFill>
                  <a:srgbClr val="467886"/>
                </a:solidFill>
                <a:latin typeface="Aptos" panose="020B0004020202020204" pitchFamily="34" charset="0"/>
                <a:hlinkClick r:id="rId2" tooltip="Dirección URL original: https://www.ansv.gov.co/es/node/13240. Haga clic o pulse si confía en este vínculo."/>
              </a:rPr>
              <a:t>Consejo Consultivo de Seguridad Vial | ANSV</a:t>
            </a:r>
            <a:r>
              <a:rPr lang="es-CO" sz="1350" b="1" dirty="0">
                <a:solidFill>
                  <a:srgbClr val="000000"/>
                </a:solidFill>
                <a:latin typeface="Aptos" panose="020B0004020202020204" pitchFamily="34" charset="0"/>
              </a:rPr>
              <a:t> </a:t>
            </a:r>
            <a:r>
              <a:rPr lang="es-CO" sz="1200" dirty="0">
                <a:solidFill>
                  <a:srgbClr val="000000"/>
                </a:solidFill>
                <a:latin typeface="Aptos" panose="020B0004020202020204" pitchFamily="34" charset="0"/>
              </a:rPr>
              <a:t> </a:t>
            </a:r>
            <a:r>
              <a:rPr lang="es-CO" sz="1200" dirty="0">
                <a:solidFill>
                  <a:srgbClr val="0070C0"/>
                </a:solidFill>
                <a:latin typeface="Aptos" panose="020B0004020202020204" pitchFamily="34" charset="0"/>
              </a:rPr>
              <a:t>LINK DE INGRESO GENERAL</a:t>
            </a:r>
            <a:endParaRPr lang="es-CO" sz="1350" dirty="0">
              <a:solidFill>
                <a:srgbClr val="0070C0"/>
              </a:solidFill>
            </a:endParaRPr>
          </a:p>
        </p:txBody>
      </p:sp>
    </p:spTree>
    <p:extLst>
      <p:ext uri="{BB962C8B-B14F-4D97-AF65-F5344CB8AC3E}">
        <p14:creationId xmlns:p14="http://schemas.microsoft.com/office/powerpoint/2010/main" val="4083761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4638-8EB7-E81D-8719-983CDF3022E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69A978A6-3094-F01A-7283-41536BDF15C4}"/>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5" name="Rectángulo 24">
            <a:extLst>
              <a:ext uri="{FF2B5EF4-FFF2-40B4-BE49-F238E27FC236}">
                <a16:creationId xmlns:a16="http://schemas.microsoft.com/office/drawing/2014/main" id="{0B0522E5-2372-5ACA-EEB1-9182035F533A}"/>
              </a:ext>
            </a:extLst>
          </p:cNvPr>
          <p:cNvSpPr/>
          <p:nvPr/>
        </p:nvSpPr>
        <p:spPr>
          <a:xfrm rot="5400000">
            <a:off x="6927829" y="3399608"/>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D649FDEA-F792-B7E0-93D5-70859F79DE75}"/>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722C8F7E-62D2-DBF7-A4A3-6A2E16B10E24}"/>
              </a:ext>
            </a:extLst>
          </p:cNvPr>
          <p:cNvCxnSpPr>
            <a:cxnSpLocks/>
          </p:cNvCxnSpPr>
          <p:nvPr/>
        </p:nvCxnSpPr>
        <p:spPr>
          <a:xfrm flipV="1">
            <a:off x="623985" y="2647144"/>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0634BDA6-4EB9-4EF7-025A-3E46718CDD2F}"/>
              </a:ext>
            </a:extLst>
          </p:cNvPr>
          <p:cNvSpPr txBox="1"/>
          <p:nvPr/>
        </p:nvSpPr>
        <p:spPr>
          <a:xfrm>
            <a:off x="682968" y="2181061"/>
            <a:ext cx="8120207" cy="3754874"/>
          </a:xfrm>
          <a:prstGeom prst="rect">
            <a:avLst/>
          </a:prstGeom>
          <a:noFill/>
        </p:spPr>
        <p:txBody>
          <a:bodyPr wrap="square">
            <a:spAutoFit/>
          </a:bodyPr>
          <a:lstStyle/>
          <a:p>
            <a:pPr>
              <a:buNone/>
            </a:pPr>
            <a:r>
              <a:rPr lang="es-MX" sz="2400" b="1" dirty="0">
                <a:solidFill>
                  <a:schemeClr val="accent2"/>
                </a:solidFill>
              </a:rPr>
              <a:t>Canal de recepción</a:t>
            </a:r>
          </a:p>
          <a:p>
            <a:pPr>
              <a:buNone/>
            </a:pPr>
            <a:endParaRPr lang="es-MX" sz="1100" b="1" dirty="0">
              <a:solidFill>
                <a:schemeClr val="tx2">
                  <a:lumMod val="75000"/>
                </a:schemeClr>
              </a:solidFill>
            </a:endParaRPr>
          </a:p>
          <a:p>
            <a:pPr>
              <a:buFont typeface="Arial" panose="020B0604020202020204" pitchFamily="34" charset="0"/>
              <a:buChar char="•"/>
            </a:pPr>
            <a:r>
              <a:rPr lang="es-MX" sz="2400" dirty="0">
                <a:solidFill>
                  <a:schemeClr val="tx2">
                    <a:lumMod val="75000"/>
                  </a:schemeClr>
                </a:solidFill>
              </a:rPr>
              <a:t>Se habilitará correo electrónico institucional según cronograma</a:t>
            </a:r>
          </a:p>
          <a:p>
            <a:pPr>
              <a:buFont typeface="Arial" panose="020B0604020202020204" pitchFamily="34" charset="0"/>
              <a:buChar char="•"/>
            </a:pPr>
            <a:r>
              <a:rPr lang="es-MX" sz="2400" dirty="0">
                <a:solidFill>
                  <a:schemeClr val="tx2">
                    <a:lumMod val="75000"/>
                  </a:schemeClr>
                </a:solidFill>
              </a:rPr>
              <a:t>El canal será dispuesto por el Grupo de Comunicaciones </a:t>
            </a:r>
          </a:p>
          <a:p>
            <a:pPr>
              <a:buFont typeface="Arial" panose="020B0604020202020204" pitchFamily="34" charset="0"/>
              <a:buChar char="•"/>
            </a:pPr>
            <a:endParaRPr lang="es-MX" sz="2400" dirty="0">
              <a:solidFill>
                <a:schemeClr val="tx2">
                  <a:lumMod val="75000"/>
                </a:schemeClr>
              </a:solidFill>
            </a:endParaRPr>
          </a:p>
          <a:p>
            <a:pPr>
              <a:buNone/>
            </a:pPr>
            <a:r>
              <a:rPr lang="es-MX" sz="2400" b="1" dirty="0">
                <a:solidFill>
                  <a:schemeClr val="accent2"/>
                </a:solidFill>
              </a:rPr>
              <a:t>Recepción documental</a:t>
            </a:r>
          </a:p>
          <a:p>
            <a:pPr>
              <a:buNone/>
            </a:pPr>
            <a:endParaRPr lang="es-MX" sz="1100" b="1" dirty="0">
              <a:solidFill>
                <a:schemeClr val="tx2">
                  <a:lumMod val="75000"/>
                </a:schemeClr>
              </a:solidFill>
            </a:endParaRPr>
          </a:p>
          <a:p>
            <a:pPr>
              <a:buNone/>
            </a:pPr>
            <a:r>
              <a:rPr lang="es-MX" sz="2400" dirty="0">
                <a:solidFill>
                  <a:schemeClr val="tx2">
                    <a:lumMod val="75000"/>
                  </a:schemeClr>
                </a:solidFill>
              </a:rPr>
              <a:t>Los postulantes realizarán:</a:t>
            </a:r>
          </a:p>
          <a:p>
            <a:pPr>
              <a:buFont typeface="Arial" panose="020B0604020202020204" pitchFamily="34" charset="0"/>
              <a:buChar char="•"/>
            </a:pPr>
            <a:r>
              <a:rPr lang="es-MX" sz="2400" dirty="0">
                <a:solidFill>
                  <a:schemeClr val="tx2">
                    <a:lumMod val="75000"/>
                  </a:schemeClr>
                </a:solidFill>
              </a:rPr>
              <a:t>registro; </a:t>
            </a:r>
          </a:p>
          <a:p>
            <a:pPr>
              <a:buFont typeface="Arial" panose="020B0604020202020204" pitchFamily="34" charset="0"/>
              <a:buChar char="•"/>
            </a:pPr>
            <a:r>
              <a:rPr lang="es-MX" sz="2400" dirty="0">
                <a:solidFill>
                  <a:schemeClr val="tx2">
                    <a:lumMod val="75000"/>
                  </a:schemeClr>
                </a:solidFill>
              </a:rPr>
              <a:t>inscripción; </a:t>
            </a:r>
          </a:p>
          <a:p>
            <a:r>
              <a:rPr lang="es-MX" sz="2400" dirty="0">
                <a:solidFill>
                  <a:schemeClr val="tx2">
                    <a:lumMod val="75000"/>
                  </a:schemeClr>
                </a:solidFill>
              </a:rPr>
              <a:t>y postulación mediante el correo definido</a:t>
            </a:r>
          </a:p>
        </p:txBody>
      </p:sp>
      <p:sp>
        <p:nvSpPr>
          <p:cNvPr id="8" name="CuadroTexto 7">
            <a:extLst>
              <a:ext uri="{FF2B5EF4-FFF2-40B4-BE49-F238E27FC236}">
                <a16:creationId xmlns:a16="http://schemas.microsoft.com/office/drawing/2014/main" id="{1AEB9349-9F09-8663-7034-B0B409A42578}"/>
              </a:ext>
            </a:extLst>
          </p:cNvPr>
          <p:cNvSpPr txBox="1"/>
          <p:nvPr/>
        </p:nvSpPr>
        <p:spPr>
          <a:xfrm>
            <a:off x="1420949" y="1332092"/>
            <a:ext cx="6302102" cy="461665"/>
          </a:xfrm>
          <a:prstGeom prst="rect">
            <a:avLst/>
          </a:prstGeom>
          <a:noFill/>
        </p:spPr>
        <p:txBody>
          <a:bodyPr wrap="square">
            <a:spAutoFit/>
          </a:bodyPr>
          <a:lstStyle/>
          <a:p>
            <a:pPr>
              <a:buNone/>
            </a:pPr>
            <a:r>
              <a:rPr lang="es-MX" sz="2400" b="1" dirty="0">
                <a:solidFill>
                  <a:schemeClr val="accent1">
                    <a:lumMod val="75000"/>
                  </a:schemeClr>
                </a:solidFill>
              </a:rPr>
              <a:t>FLUJO OPERATIVO DEL PROCESO</a:t>
            </a:r>
          </a:p>
        </p:txBody>
      </p:sp>
    </p:spTree>
    <p:extLst>
      <p:ext uri="{BB962C8B-B14F-4D97-AF65-F5344CB8AC3E}">
        <p14:creationId xmlns:p14="http://schemas.microsoft.com/office/powerpoint/2010/main" val="2211253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321-ED32-20DF-13D2-1704B79ECF8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69D63C2-6B98-DB01-636E-9D67E61056A8}"/>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5" name="Rectángulo 24">
            <a:extLst>
              <a:ext uri="{FF2B5EF4-FFF2-40B4-BE49-F238E27FC236}">
                <a16:creationId xmlns:a16="http://schemas.microsoft.com/office/drawing/2014/main" id="{496AEA91-10E8-14DD-19DE-797785C7E0CC}"/>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87F85D48-5034-6451-1249-D91271BAF0FF}"/>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51320813-C49D-FE43-3E31-FBD4218B52A1}"/>
              </a:ext>
            </a:extLst>
          </p:cNvPr>
          <p:cNvCxnSpPr>
            <a:cxnSpLocks/>
          </p:cNvCxnSpPr>
          <p:nvPr/>
        </p:nvCxnSpPr>
        <p:spPr>
          <a:xfrm flipV="1">
            <a:off x="1498477" y="2613893"/>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80DA2E5A-85A7-0500-2ACD-F2FB301BC3BA}"/>
              </a:ext>
            </a:extLst>
          </p:cNvPr>
          <p:cNvSpPr txBox="1"/>
          <p:nvPr/>
        </p:nvSpPr>
        <p:spPr>
          <a:xfrm>
            <a:off x="1689561" y="1897034"/>
            <a:ext cx="6639791" cy="4431983"/>
          </a:xfrm>
          <a:prstGeom prst="rect">
            <a:avLst/>
          </a:prstGeom>
          <a:noFill/>
        </p:spPr>
        <p:txBody>
          <a:bodyPr wrap="square">
            <a:spAutoFit/>
          </a:bodyPr>
          <a:lstStyle/>
          <a:p>
            <a:pPr>
              <a:buNone/>
            </a:pPr>
            <a:r>
              <a:rPr lang="es-MX" sz="2000" b="1" dirty="0">
                <a:solidFill>
                  <a:schemeClr val="accent2"/>
                </a:solidFill>
              </a:rPr>
              <a:t>Gestión TIC</a:t>
            </a:r>
          </a:p>
          <a:p>
            <a:pPr>
              <a:buNone/>
            </a:pPr>
            <a:endParaRPr lang="es-MX" sz="2000" b="1" dirty="0">
              <a:solidFill>
                <a:schemeClr val="tx2">
                  <a:lumMod val="75000"/>
                </a:schemeClr>
              </a:solidFill>
            </a:endParaRPr>
          </a:p>
          <a:p>
            <a:pPr>
              <a:buNone/>
            </a:pPr>
            <a:r>
              <a:rPr lang="es-MX" sz="2000" dirty="0">
                <a:solidFill>
                  <a:schemeClr val="tx2">
                    <a:lumMod val="75000"/>
                  </a:schemeClr>
                </a:solidFill>
              </a:rPr>
              <a:t>El Grupo </a:t>
            </a:r>
            <a:r>
              <a:rPr lang="es-MX" sz="2000" b="1" dirty="0">
                <a:solidFill>
                  <a:schemeClr val="tx2">
                    <a:lumMod val="75000"/>
                  </a:schemeClr>
                </a:solidFill>
              </a:rPr>
              <a:t>TIC </a:t>
            </a:r>
            <a:r>
              <a:rPr lang="es-MX" sz="2000" dirty="0">
                <a:solidFill>
                  <a:schemeClr val="tx2">
                    <a:lumMod val="75000"/>
                  </a:schemeClr>
                </a:solidFill>
              </a:rPr>
              <a:t>y la </a:t>
            </a:r>
            <a:r>
              <a:rPr lang="es-MX" sz="2000" b="1" dirty="0">
                <a:solidFill>
                  <a:schemeClr val="tx2">
                    <a:lumMod val="75000"/>
                  </a:schemeClr>
                </a:solidFill>
              </a:rPr>
              <a:t>OAC</a:t>
            </a:r>
            <a:r>
              <a:rPr lang="es-MX" sz="2000" dirty="0">
                <a:solidFill>
                  <a:schemeClr val="tx2">
                    <a:lumMod val="75000"/>
                  </a:schemeClr>
                </a:solidFill>
              </a:rPr>
              <a:t>:</a:t>
            </a:r>
          </a:p>
          <a:p>
            <a:pPr>
              <a:buNone/>
            </a:pPr>
            <a:endParaRPr lang="es-MX" sz="1100" dirty="0">
              <a:solidFill>
                <a:schemeClr val="tx2">
                  <a:lumMod val="75000"/>
                </a:schemeClr>
              </a:solidFill>
            </a:endParaRPr>
          </a:p>
          <a:p>
            <a:pPr>
              <a:buFont typeface="Arial" panose="020B0604020202020204" pitchFamily="34" charset="0"/>
              <a:buChar char="•"/>
            </a:pPr>
            <a:r>
              <a:rPr lang="es-MX" sz="2000" dirty="0">
                <a:solidFill>
                  <a:schemeClr val="tx2">
                    <a:lumMod val="75000"/>
                  </a:schemeClr>
                </a:solidFill>
              </a:rPr>
              <a:t> consolidarán bases digitales; </a:t>
            </a:r>
          </a:p>
          <a:p>
            <a:pPr>
              <a:buFont typeface="Arial" panose="020B0604020202020204" pitchFamily="34" charset="0"/>
              <a:buChar char="•"/>
            </a:pPr>
            <a:r>
              <a:rPr lang="es-MX" sz="2000" dirty="0">
                <a:solidFill>
                  <a:schemeClr val="tx2">
                    <a:lumMod val="75000"/>
                  </a:schemeClr>
                </a:solidFill>
              </a:rPr>
              <a:t> organizarán postulaciones recibidas; </a:t>
            </a:r>
          </a:p>
          <a:p>
            <a:pPr>
              <a:buFont typeface="Arial" panose="020B0604020202020204" pitchFamily="34" charset="0"/>
              <a:buChar char="•"/>
            </a:pPr>
            <a:r>
              <a:rPr lang="es-MX" sz="2000" dirty="0">
                <a:solidFill>
                  <a:schemeClr val="tx2">
                    <a:lumMod val="75000"/>
                  </a:schemeClr>
                </a:solidFill>
              </a:rPr>
              <a:t> remitirán expedientes al líder del proceso. </a:t>
            </a:r>
          </a:p>
          <a:p>
            <a:endParaRPr lang="es-MX" sz="2000" dirty="0">
              <a:solidFill>
                <a:schemeClr val="tx2">
                  <a:lumMod val="75000"/>
                </a:schemeClr>
              </a:solidFill>
            </a:endParaRPr>
          </a:p>
          <a:p>
            <a:pPr>
              <a:buNone/>
            </a:pPr>
            <a:r>
              <a:rPr lang="es-MX" sz="2000" b="1" dirty="0">
                <a:solidFill>
                  <a:schemeClr val="accent2"/>
                </a:solidFill>
              </a:rPr>
              <a:t>Liderazgo del proceso</a:t>
            </a:r>
          </a:p>
          <a:p>
            <a:pPr>
              <a:buNone/>
            </a:pPr>
            <a:endParaRPr lang="es-MX" sz="1100" b="1" dirty="0">
              <a:solidFill>
                <a:schemeClr val="tx2">
                  <a:lumMod val="75000"/>
                </a:schemeClr>
              </a:solidFill>
            </a:endParaRPr>
          </a:p>
          <a:p>
            <a:pPr>
              <a:buNone/>
            </a:pPr>
            <a:r>
              <a:rPr lang="es-MX" sz="2000" dirty="0">
                <a:solidFill>
                  <a:schemeClr val="tx2">
                    <a:lumMod val="75000"/>
                  </a:schemeClr>
                </a:solidFill>
              </a:rPr>
              <a:t>El Asesor </a:t>
            </a:r>
            <a:r>
              <a:rPr lang="es-MX" sz="2000" b="1" dirty="0">
                <a:solidFill>
                  <a:schemeClr val="tx2">
                    <a:lumMod val="75000"/>
                  </a:schemeClr>
                </a:solidFill>
              </a:rPr>
              <a:t>Henry Leonardo Martin Uribe</a:t>
            </a:r>
            <a:r>
              <a:rPr lang="es-MX" sz="2000" dirty="0">
                <a:solidFill>
                  <a:schemeClr val="tx2">
                    <a:lumMod val="75000"/>
                  </a:schemeClr>
                </a:solidFill>
              </a:rPr>
              <a:t>: (propuesta)</a:t>
            </a:r>
          </a:p>
          <a:p>
            <a:pPr>
              <a:buNone/>
            </a:pPr>
            <a:endParaRPr lang="es-MX" sz="2000" dirty="0">
              <a:solidFill>
                <a:schemeClr val="tx2">
                  <a:lumMod val="75000"/>
                </a:schemeClr>
              </a:solidFill>
            </a:endParaRPr>
          </a:p>
          <a:p>
            <a:pPr>
              <a:buFont typeface="Arial" panose="020B0604020202020204" pitchFamily="34" charset="0"/>
              <a:buChar char="•"/>
            </a:pPr>
            <a:r>
              <a:rPr lang="es-MX" sz="2000" dirty="0">
                <a:solidFill>
                  <a:schemeClr val="tx2">
                    <a:lumMod val="75000"/>
                  </a:schemeClr>
                </a:solidFill>
              </a:rPr>
              <a:t> recibirá expedientes; </a:t>
            </a:r>
          </a:p>
          <a:p>
            <a:pPr>
              <a:buFont typeface="Arial" panose="020B0604020202020204" pitchFamily="34" charset="0"/>
              <a:buChar char="•"/>
            </a:pPr>
            <a:r>
              <a:rPr lang="es-MX" sz="2000" dirty="0">
                <a:solidFill>
                  <a:schemeClr val="tx2">
                    <a:lumMod val="75000"/>
                  </a:schemeClr>
                </a:solidFill>
              </a:rPr>
              <a:t> realizará reparto interno; </a:t>
            </a:r>
          </a:p>
          <a:p>
            <a:pPr>
              <a:buFont typeface="Arial" panose="020B0604020202020204" pitchFamily="34" charset="0"/>
              <a:buChar char="•"/>
            </a:pPr>
            <a:r>
              <a:rPr lang="es-MX" sz="2000" dirty="0">
                <a:solidFill>
                  <a:schemeClr val="tx2">
                    <a:lumMod val="75000"/>
                  </a:schemeClr>
                </a:solidFill>
              </a:rPr>
              <a:t> distribuirá revisión conforme orden de llegada.</a:t>
            </a:r>
          </a:p>
        </p:txBody>
      </p:sp>
      <p:sp>
        <p:nvSpPr>
          <p:cNvPr id="7" name="CuadroTexto 6">
            <a:extLst>
              <a:ext uri="{FF2B5EF4-FFF2-40B4-BE49-F238E27FC236}">
                <a16:creationId xmlns:a16="http://schemas.microsoft.com/office/drawing/2014/main" id="{A2EC5B72-F090-C569-6FED-D8E610380A88}"/>
              </a:ext>
            </a:extLst>
          </p:cNvPr>
          <p:cNvSpPr txBox="1"/>
          <p:nvPr/>
        </p:nvSpPr>
        <p:spPr>
          <a:xfrm>
            <a:off x="1839191" y="1279776"/>
            <a:ext cx="5288973" cy="507831"/>
          </a:xfrm>
          <a:prstGeom prst="rect">
            <a:avLst/>
          </a:prstGeom>
          <a:noFill/>
        </p:spPr>
        <p:txBody>
          <a:bodyPr wrap="square">
            <a:spAutoFit/>
          </a:bodyPr>
          <a:lstStyle/>
          <a:p>
            <a:pPr>
              <a:buNone/>
            </a:pPr>
            <a:r>
              <a:rPr lang="es-MX" sz="2700" b="1" dirty="0">
                <a:solidFill>
                  <a:schemeClr val="accent1">
                    <a:lumMod val="75000"/>
                  </a:schemeClr>
                </a:solidFill>
              </a:rPr>
              <a:t>FLUJO OPERATIVO INTERNO</a:t>
            </a:r>
          </a:p>
        </p:txBody>
      </p:sp>
    </p:spTree>
    <p:extLst>
      <p:ext uri="{BB962C8B-B14F-4D97-AF65-F5344CB8AC3E}">
        <p14:creationId xmlns:p14="http://schemas.microsoft.com/office/powerpoint/2010/main" val="2610135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760F9-C012-1F22-2A15-81E0C69FA6A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6906C94-F29F-AE5E-165E-2B92E3EB6AE2}"/>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5" name="Rectángulo 24">
            <a:extLst>
              <a:ext uri="{FF2B5EF4-FFF2-40B4-BE49-F238E27FC236}">
                <a16:creationId xmlns:a16="http://schemas.microsoft.com/office/drawing/2014/main" id="{B20D2F7A-7EEE-69CF-7CCD-1E5D54DAE833}"/>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3752ED98-CF75-A282-C3F0-082BF572E288}"/>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8E433997-C973-271D-BE81-B56492F8DA70}"/>
              </a:ext>
            </a:extLst>
          </p:cNvPr>
          <p:cNvCxnSpPr>
            <a:cxnSpLocks/>
          </p:cNvCxnSpPr>
          <p:nvPr/>
        </p:nvCxnSpPr>
        <p:spPr>
          <a:xfrm flipV="1">
            <a:off x="1365473" y="2647144"/>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B6C61429-95F2-B00F-7EFB-2C1839752189}"/>
              </a:ext>
            </a:extLst>
          </p:cNvPr>
          <p:cNvSpPr txBox="1"/>
          <p:nvPr/>
        </p:nvSpPr>
        <p:spPr>
          <a:xfrm>
            <a:off x="1610590" y="2167912"/>
            <a:ext cx="6303125" cy="4224233"/>
          </a:xfrm>
          <a:prstGeom prst="rect">
            <a:avLst/>
          </a:prstGeom>
          <a:noFill/>
        </p:spPr>
        <p:txBody>
          <a:bodyPr wrap="square">
            <a:spAutoFit/>
          </a:bodyPr>
          <a:lstStyle/>
          <a:p>
            <a:pPr>
              <a:buNone/>
            </a:pPr>
            <a:r>
              <a:rPr lang="es-MX" sz="2000" b="1" dirty="0">
                <a:solidFill>
                  <a:schemeClr val="accent2"/>
                </a:solidFill>
              </a:rPr>
              <a:t>Finalidad</a:t>
            </a:r>
          </a:p>
          <a:p>
            <a:pPr>
              <a:buNone/>
            </a:pPr>
            <a:endParaRPr lang="es-MX" sz="1050" b="1" dirty="0">
              <a:solidFill>
                <a:schemeClr val="tx2">
                  <a:lumMod val="75000"/>
                </a:schemeClr>
              </a:solidFill>
            </a:endParaRPr>
          </a:p>
          <a:p>
            <a:pPr>
              <a:buNone/>
            </a:pPr>
            <a:r>
              <a:rPr lang="es-MX" sz="2000" dirty="0">
                <a:solidFill>
                  <a:schemeClr val="tx2">
                    <a:lumMod val="75000"/>
                  </a:schemeClr>
                </a:solidFill>
              </a:rPr>
              <a:t>Garantizar:</a:t>
            </a:r>
          </a:p>
          <a:p>
            <a:pPr>
              <a:buFont typeface="Arial" panose="020B0604020202020204" pitchFamily="34" charset="0"/>
              <a:buChar char="•"/>
            </a:pPr>
            <a:r>
              <a:rPr lang="es-MX" sz="2000" dirty="0">
                <a:solidFill>
                  <a:schemeClr val="tx2">
                    <a:lumMod val="75000"/>
                  </a:schemeClr>
                </a:solidFill>
              </a:rPr>
              <a:t>transparencia; </a:t>
            </a:r>
          </a:p>
          <a:p>
            <a:pPr>
              <a:buFont typeface="Arial" panose="020B0604020202020204" pitchFamily="34" charset="0"/>
              <a:buChar char="•"/>
            </a:pPr>
            <a:r>
              <a:rPr lang="es-MX" sz="2000" dirty="0">
                <a:solidFill>
                  <a:schemeClr val="tx2">
                    <a:lumMod val="75000"/>
                  </a:schemeClr>
                </a:solidFill>
              </a:rPr>
              <a:t>objetividad; </a:t>
            </a:r>
          </a:p>
          <a:p>
            <a:pPr>
              <a:buFont typeface="Arial" panose="020B0604020202020204" pitchFamily="34" charset="0"/>
              <a:buChar char="•"/>
            </a:pPr>
            <a:r>
              <a:rPr lang="es-MX" sz="2000" dirty="0">
                <a:solidFill>
                  <a:schemeClr val="tx2">
                    <a:lumMod val="75000"/>
                  </a:schemeClr>
                </a:solidFill>
              </a:rPr>
              <a:t>igualdad; </a:t>
            </a:r>
          </a:p>
          <a:p>
            <a:pPr>
              <a:buFont typeface="Arial" panose="020B0604020202020204" pitchFamily="34" charset="0"/>
              <a:buChar char="•"/>
            </a:pPr>
            <a:r>
              <a:rPr lang="es-MX" sz="2000" dirty="0">
                <a:solidFill>
                  <a:schemeClr val="tx2">
                    <a:lumMod val="75000"/>
                  </a:schemeClr>
                </a:solidFill>
              </a:rPr>
              <a:t>trazabilidad; </a:t>
            </a:r>
          </a:p>
          <a:p>
            <a:pPr>
              <a:buFont typeface="Arial" panose="020B0604020202020204" pitchFamily="34" charset="0"/>
              <a:buChar char="•"/>
            </a:pPr>
            <a:r>
              <a:rPr lang="es-MX" sz="2000" dirty="0">
                <a:solidFill>
                  <a:schemeClr val="tx2">
                    <a:lumMod val="75000"/>
                  </a:schemeClr>
                </a:solidFill>
              </a:rPr>
              <a:t>y control documental. </a:t>
            </a:r>
          </a:p>
          <a:p>
            <a:endParaRPr lang="es-MX" sz="2000" dirty="0">
              <a:solidFill>
                <a:schemeClr val="tx2">
                  <a:lumMod val="75000"/>
                </a:schemeClr>
              </a:solidFill>
            </a:endParaRPr>
          </a:p>
          <a:p>
            <a:pPr>
              <a:buNone/>
            </a:pPr>
            <a:r>
              <a:rPr lang="es-MX" sz="2000" b="1" dirty="0">
                <a:solidFill>
                  <a:schemeClr val="accent2"/>
                </a:solidFill>
              </a:rPr>
              <a:t>Función principal</a:t>
            </a:r>
          </a:p>
          <a:p>
            <a:pPr>
              <a:buNone/>
            </a:pPr>
            <a:endParaRPr lang="es-MX" sz="1200" b="1" dirty="0">
              <a:solidFill>
                <a:schemeClr val="tx2">
                  <a:lumMod val="75000"/>
                </a:schemeClr>
              </a:solidFill>
            </a:endParaRPr>
          </a:p>
          <a:p>
            <a:pPr>
              <a:buNone/>
            </a:pPr>
            <a:r>
              <a:rPr lang="es-MX" sz="2000" dirty="0">
                <a:solidFill>
                  <a:schemeClr val="tx2">
                    <a:lumMod val="75000"/>
                  </a:schemeClr>
                </a:solidFill>
              </a:rPr>
              <a:t>Verificación de requisitos habilitantes de:</a:t>
            </a:r>
          </a:p>
          <a:p>
            <a:pPr>
              <a:buFont typeface="Arial" panose="020B0604020202020204" pitchFamily="34" charset="0"/>
              <a:buChar char="•"/>
            </a:pPr>
            <a:r>
              <a:rPr lang="es-MX" sz="2000" dirty="0">
                <a:solidFill>
                  <a:schemeClr val="tx2">
                    <a:lumMod val="75000"/>
                  </a:schemeClr>
                </a:solidFill>
              </a:rPr>
              <a:t>postulantes; </a:t>
            </a:r>
          </a:p>
          <a:p>
            <a:pPr>
              <a:buFont typeface="Arial" panose="020B0604020202020204" pitchFamily="34" charset="0"/>
              <a:buChar char="•"/>
            </a:pPr>
            <a:r>
              <a:rPr lang="es-MX" sz="2000" dirty="0">
                <a:solidFill>
                  <a:schemeClr val="tx2">
                    <a:lumMod val="75000"/>
                  </a:schemeClr>
                </a:solidFill>
              </a:rPr>
              <a:t>y electores – </a:t>
            </a:r>
            <a:r>
              <a:rPr lang="es-MX" sz="2000" i="1" dirty="0">
                <a:solidFill>
                  <a:schemeClr val="tx2">
                    <a:lumMod val="75000"/>
                  </a:schemeClr>
                </a:solidFill>
              </a:rPr>
              <a:t>será a cargo del área Tics plataforma</a:t>
            </a:r>
          </a:p>
        </p:txBody>
      </p:sp>
      <p:sp>
        <p:nvSpPr>
          <p:cNvPr id="8" name="CuadroTexto 7">
            <a:extLst>
              <a:ext uri="{FF2B5EF4-FFF2-40B4-BE49-F238E27FC236}">
                <a16:creationId xmlns:a16="http://schemas.microsoft.com/office/drawing/2014/main" id="{38AE7D08-95E4-8638-D170-5B48D3F3C7A3}"/>
              </a:ext>
            </a:extLst>
          </p:cNvPr>
          <p:cNvSpPr txBox="1"/>
          <p:nvPr/>
        </p:nvSpPr>
        <p:spPr>
          <a:xfrm>
            <a:off x="1704108" y="1683163"/>
            <a:ext cx="5309755" cy="507831"/>
          </a:xfrm>
          <a:prstGeom prst="rect">
            <a:avLst/>
          </a:prstGeom>
          <a:noFill/>
        </p:spPr>
        <p:txBody>
          <a:bodyPr wrap="square">
            <a:spAutoFit/>
          </a:bodyPr>
          <a:lstStyle/>
          <a:p>
            <a:pPr>
              <a:buNone/>
            </a:pPr>
            <a:r>
              <a:rPr lang="es-MX" sz="2700" b="1" dirty="0">
                <a:solidFill>
                  <a:schemeClr val="accent1">
                    <a:lumMod val="75000"/>
                  </a:schemeClr>
                </a:solidFill>
              </a:rPr>
              <a:t>COMISIÓN DE VERIFICACIÓN</a:t>
            </a:r>
          </a:p>
        </p:txBody>
      </p:sp>
    </p:spTree>
    <p:extLst>
      <p:ext uri="{BB962C8B-B14F-4D97-AF65-F5344CB8AC3E}">
        <p14:creationId xmlns:p14="http://schemas.microsoft.com/office/powerpoint/2010/main" val="1295226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5C240-165D-274C-2A2D-239A7DE1DD5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6E0BB1E4-C942-AB45-8DB0-4AF42827A827}"/>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5" name="Rectángulo 24">
            <a:extLst>
              <a:ext uri="{FF2B5EF4-FFF2-40B4-BE49-F238E27FC236}">
                <a16:creationId xmlns:a16="http://schemas.microsoft.com/office/drawing/2014/main" id="{3E775CD1-06CA-9573-86AA-452417573DE3}"/>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6C838226-8202-6D29-76F9-5C72CEA09CEC}"/>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18FD2B66-9BB7-7295-6469-63F57F4BC973}"/>
              </a:ext>
            </a:extLst>
          </p:cNvPr>
          <p:cNvCxnSpPr>
            <a:cxnSpLocks/>
          </p:cNvCxnSpPr>
          <p:nvPr/>
        </p:nvCxnSpPr>
        <p:spPr>
          <a:xfrm flipV="1">
            <a:off x="1365473" y="2647144"/>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17E7FFB5-08BA-96D3-DF31-A4C11E985998}"/>
              </a:ext>
            </a:extLst>
          </p:cNvPr>
          <p:cNvSpPr txBox="1"/>
          <p:nvPr/>
        </p:nvSpPr>
        <p:spPr>
          <a:xfrm>
            <a:off x="1763484" y="2139312"/>
            <a:ext cx="5133110" cy="3847207"/>
          </a:xfrm>
          <a:prstGeom prst="rect">
            <a:avLst/>
          </a:prstGeom>
          <a:noFill/>
        </p:spPr>
        <p:txBody>
          <a:bodyPr wrap="square">
            <a:spAutoFit/>
          </a:bodyPr>
          <a:lstStyle/>
          <a:p>
            <a:pPr>
              <a:buNone/>
            </a:pPr>
            <a:r>
              <a:rPr lang="es-MX" sz="2000" b="1" dirty="0">
                <a:solidFill>
                  <a:schemeClr val="accent2"/>
                </a:solidFill>
              </a:rPr>
              <a:t>Verificación documental</a:t>
            </a:r>
          </a:p>
          <a:p>
            <a:pPr>
              <a:buNone/>
            </a:pPr>
            <a:endParaRPr lang="es-MX" sz="1200" b="1" dirty="0">
              <a:solidFill>
                <a:schemeClr val="tx2">
                  <a:lumMod val="75000"/>
                </a:schemeClr>
              </a:solidFill>
            </a:endParaRPr>
          </a:p>
          <a:p>
            <a:pPr>
              <a:buFont typeface="Arial" panose="020B0604020202020204" pitchFamily="34" charset="0"/>
              <a:buChar char="•"/>
            </a:pPr>
            <a:r>
              <a:rPr lang="es-MX" sz="2000" dirty="0">
                <a:solidFill>
                  <a:schemeClr val="tx2">
                    <a:lumMod val="75000"/>
                  </a:schemeClr>
                </a:solidFill>
              </a:rPr>
              <a:t> Validación de requisitos</a:t>
            </a:r>
          </a:p>
          <a:p>
            <a:pPr>
              <a:buFont typeface="Arial" panose="020B0604020202020204" pitchFamily="34" charset="0"/>
              <a:buChar char="•"/>
            </a:pPr>
            <a:r>
              <a:rPr lang="es-MX" sz="2000" dirty="0">
                <a:solidFill>
                  <a:schemeClr val="tx2">
                    <a:lumMod val="75000"/>
                  </a:schemeClr>
                </a:solidFill>
              </a:rPr>
              <a:t> Revisión de soportes </a:t>
            </a:r>
          </a:p>
          <a:p>
            <a:pPr>
              <a:buFont typeface="Arial" panose="020B0604020202020204" pitchFamily="34" charset="0"/>
              <a:buChar char="•"/>
            </a:pPr>
            <a:r>
              <a:rPr lang="es-MX" sz="2000" dirty="0">
                <a:solidFill>
                  <a:schemeClr val="tx2">
                    <a:lumMod val="75000"/>
                  </a:schemeClr>
                </a:solidFill>
              </a:rPr>
              <a:t> Verificación de formatos </a:t>
            </a:r>
          </a:p>
          <a:p>
            <a:pPr>
              <a:buFont typeface="Arial" panose="020B0604020202020204" pitchFamily="34" charset="0"/>
              <a:buChar char="•"/>
            </a:pPr>
            <a:r>
              <a:rPr lang="es-MX" sz="2000" dirty="0">
                <a:solidFill>
                  <a:schemeClr val="tx2">
                    <a:lumMod val="75000"/>
                  </a:schemeClr>
                </a:solidFill>
              </a:rPr>
              <a:t> Consolidación de observaciones</a:t>
            </a:r>
          </a:p>
          <a:p>
            <a:pPr>
              <a:buFont typeface="Arial" panose="020B0604020202020204" pitchFamily="34" charset="0"/>
              <a:buChar char="•"/>
            </a:pPr>
            <a:r>
              <a:rPr lang="es-MX" sz="2000" dirty="0">
                <a:solidFill>
                  <a:schemeClr val="tx2">
                    <a:lumMod val="75000"/>
                  </a:schemeClr>
                </a:solidFill>
              </a:rPr>
              <a:t> Registro de actuaciones.</a:t>
            </a:r>
          </a:p>
          <a:p>
            <a:r>
              <a:rPr lang="es-MX" sz="2000" dirty="0">
                <a:solidFill>
                  <a:schemeClr val="tx2">
                    <a:lumMod val="75000"/>
                  </a:schemeClr>
                </a:solidFill>
              </a:rPr>
              <a:t> </a:t>
            </a:r>
          </a:p>
          <a:p>
            <a:pPr>
              <a:buNone/>
            </a:pPr>
            <a:r>
              <a:rPr lang="es-MX" sz="2000" b="1" dirty="0">
                <a:solidFill>
                  <a:schemeClr val="accent2"/>
                </a:solidFill>
              </a:rPr>
              <a:t>Control del proceso</a:t>
            </a:r>
          </a:p>
          <a:p>
            <a:pPr>
              <a:buNone/>
            </a:pPr>
            <a:endParaRPr lang="es-MX" sz="1200" b="1" dirty="0">
              <a:solidFill>
                <a:schemeClr val="tx2">
                  <a:lumMod val="75000"/>
                </a:schemeClr>
              </a:solidFill>
            </a:endParaRPr>
          </a:p>
          <a:p>
            <a:pPr>
              <a:buFont typeface="Arial" panose="020B0604020202020204" pitchFamily="34" charset="0"/>
              <a:buChar char="•"/>
            </a:pPr>
            <a:r>
              <a:rPr lang="es-MX" sz="2000" dirty="0">
                <a:solidFill>
                  <a:schemeClr val="tx2">
                    <a:lumMod val="75000"/>
                  </a:schemeClr>
                </a:solidFill>
              </a:rPr>
              <a:t> Custodia documental</a:t>
            </a:r>
          </a:p>
          <a:p>
            <a:pPr>
              <a:buFont typeface="Arial" panose="020B0604020202020204" pitchFamily="34" charset="0"/>
              <a:buChar char="•"/>
            </a:pPr>
            <a:r>
              <a:rPr lang="es-MX" sz="2000" dirty="0">
                <a:solidFill>
                  <a:schemeClr val="tx2">
                    <a:lumMod val="75000"/>
                  </a:schemeClr>
                </a:solidFill>
              </a:rPr>
              <a:t> Trazabilidad </a:t>
            </a:r>
          </a:p>
          <a:p>
            <a:pPr>
              <a:buFont typeface="Arial" panose="020B0604020202020204" pitchFamily="34" charset="0"/>
              <a:buChar char="•"/>
            </a:pPr>
            <a:r>
              <a:rPr lang="es-MX" sz="2000" dirty="0">
                <a:solidFill>
                  <a:schemeClr val="tx2">
                    <a:lumMod val="75000"/>
                  </a:schemeClr>
                </a:solidFill>
              </a:rPr>
              <a:t> Validación de habilitados.</a:t>
            </a:r>
          </a:p>
        </p:txBody>
      </p:sp>
      <p:sp>
        <p:nvSpPr>
          <p:cNvPr id="7" name="CuadroTexto 6">
            <a:extLst>
              <a:ext uri="{FF2B5EF4-FFF2-40B4-BE49-F238E27FC236}">
                <a16:creationId xmlns:a16="http://schemas.microsoft.com/office/drawing/2014/main" id="{72511A21-2288-4FE0-1A50-0A64083BB05E}"/>
              </a:ext>
            </a:extLst>
          </p:cNvPr>
          <p:cNvSpPr txBox="1"/>
          <p:nvPr/>
        </p:nvSpPr>
        <p:spPr>
          <a:xfrm>
            <a:off x="1681249" y="1352700"/>
            <a:ext cx="5611091" cy="507831"/>
          </a:xfrm>
          <a:prstGeom prst="rect">
            <a:avLst/>
          </a:prstGeom>
          <a:noFill/>
        </p:spPr>
        <p:txBody>
          <a:bodyPr wrap="square">
            <a:spAutoFit/>
          </a:bodyPr>
          <a:lstStyle/>
          <a:p>
            <a:pPr>
              <a:buNone/>
            </a:pPr>
            <a:r>
              <a:rPr lang="es-MX" sz="2700" b="1" dirty="0">
                <a:solidFill>
                  <a:schemeClr val="accent1">
                    <a:lumMod val="75000"/>
                  </a:schemeClr>
                </a:solidFill>
              </a:rPr>
              <a:t>FUNCIONES DE LA COMISIÓN</a:t>
            </a:r>
          </a:p>
        </p:txBody>
      </p:sp>
    </p:spTree>
    <p:extLst>
      <p:ext uri="{BB962C8B-B14F-4D97-AF65-F5344CB8AC3E}">
        <p14:creationId xmlns:p14="http://schemas.microsoft.com/office/powerpoint/2010/main" val="3505793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612B5-0105-4BC8-59B3-CBFABF8A3B6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08CB488-DC04-790F-23BE-5CC5E1A52A35}"/>
              </a:ext>
            </a:extLst>
          </p:cNvPr>
          <p:cNvSpPr/>
          <p:nvPr/>
        </p:nvSpPr>
        <p:spPr>
          <a:xfrm>
            <a:off x="1058961" y="1084096"/>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s-MX" sz="2400" b="1" dirty="0">
                <a:solidFill>
                  <a:schemeClr val="accent1">
                    <a:lumMod val="75000"/>
                  </a:schemeClr>
                </a:solidFill>
              </a:rPr>
              <a:t>REQUISITOS DE LOS POSTULANTES</a:t>
            </a:r>
          </a:p>
        </p:txBody>
      </p:sp>
      <p:sp>
        <p:nvSpPr>
          <p:cNvPr id="25" name="Rectángulo 24">
            <a:extLst>
              <a:ext uri="{FF2B5EF4-FFF2-40B4-BE49-F238E27FC236}">
                <a16:creationId xmlns:a16="http://schemas.microsoft.com/office/drawing/2014/main" id="{CFC9D36A-A69F-76A5-0CC0-EC1A126F733D}"/>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F38CB86B-E203-A3EE-65D4-4C2EE64CD041}"/>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2F88A5B1-A099-B0F2-F02E-6F667595808A}"/>
              </a:ext>
            </a:extLst>
          </p:cNvPr>
          <p:cNvCxnSpPr>
            <a:cxnSpLocks/>
          </p:cNvCxnSpPr>
          <p:nvPr/>
        </p:nvCxnSpPr>
        <p:spPr>
          <a:xfrm flipV="1">
            <a:off x="1153649" y="2730271"/>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07977909-0048-FA12-5E1C-C26BA4E5523C}"/>
              </a:ext>
            </a:extLst>
          </p:cNvPr>
          <p:cNvSpPr txBox="1"/>
          <p:nvPr/>
        </p:nvSpPr>
        <p:spPr>
          <a:xfrm>
            <a:off x="1380408" y="1417405"/>
            <a:ext cx="7119755" cy="5232202"/>
          </a:xfrm>
          <a:prstGeom prst="rect">
            <a:avLst/>
          </a:prstGeom>
          <a:noFill/>
        </p:spPr>
        <p:txBody>
          <a:bodyPr wrap="square">
            <a:spAutoFit/>
          </a:bodyPr>
          <a:lstStyle/>
          <a:p>
            <a:pPr>
              <a:buNone/>
            </a:pPr>
            <a:r>
              <a:rPr lang="es-MX" b="1" dirty="0">
                <a:solidFill>
                  <a:schemeClr val="accent2"/>
                </a:solidFill>
              </a:rPr>
              <a:t>Documentos obligatorios</a:t>
            </a:r>
          </a:p>
          <a:p>
            <a:pPr>
              <a:buNone/>
            </a:pPr>
            <a:endParaRPr lang="es-MX" sz="1000" b="1" dirty="0">
              <a:solidFill>
                <a:schemeClr val="tx2">
                  <a:lumMod val="75000"/>
                </a:schemeClr>
              </a:solidFill>
            </a:endParaRPr>
          </a:p>
          <a:p>
            <a:pPr>
              <a:buNone/>
            </a:pPr>
            <a:r>
              <a:rPr lang="es-MX" sz="1600" dirty="0">
                <a:solidFill>
                  <a:schemeClr val="tx2">
                    <a:lumMod val="75000"/>
                  </a:schemeClr>
                </a:solidFill>
              </a:rPr>
              <a:t>Los postulantes deberán aportar:</a:t>
            </a:r>
          </a:p>
          <a:p>
            <a:pPr>
              <a:buNone/>
            </a:pPr>
            <a:endParaRPr lang="es-MX" sz="400" dirty="0">
              <a:solidFill>
                <a:schemeClr val="tx2">
                  <a:lumMod val="75000"/>
                </a:schemeClr>
              </a:solidFill>
            </a:endParaRPr>
          </a:p>
          <a:p>
            <a:pPr>
              <a:buNone/>
            </a:pPr>
            <a:r>
              <a:rPr lang="es-MX" sz="1600" b="1" dirty="0">
                <a:solidFill>
                  <a:schemeClr val="accent1">
                    <a:lumMod val="75000"/>
                  </a:schemeClr>
                </a:solidFill>
              </a:rPr>
              <a:t>Documentos de identificación y representación</a:t>
            </a:r>
          </a:p>
          <a:p>
            <a:pPr>
              <a:buNone/>
            </a:pPr>
            <a:endParaRPr lang="es-MX" sz="1200" b="1" dirty="0">
              <a:solidFill>
                <a:schemeClr val="accent1">
                  <a:lumMod val="75000"/>
                </a:schemeClr>
              </a:solidFill>
            </a:endParaRPr>
          </a:p>
          <a:p>
            <a:pPr>
              <a:buFont typeface="Arial" panose="020B0604020202020204" pitchFamily="34" charset="0"/>
              <a:buChar char="•"/>
            </a:pPr>
            <a:r>
              <a:rPr lang="es-MX" sz="1600" dirty="0">
                <a:solidFill>
                  <a:schemeClr val="tx2">
                    <a:lumMod val="75000"/>
                  </a:schemeClr>
                </a:solidFill>
              </a:rPr>
              <a:t> Fotocopia del documento de identidad. </a:t>
            </a:r>
          </a:p>
          <a:p>
            <a:pPr>
              <a:buFont typeface="Arial" panose="020B0604020202020204" pitchFamily="34" charset="0"/>
              <a:buChar char="•"/>
            </a:pPr>
            <a:r>
              <a:rPr lang="es-MX" sz="1600" dirty="0">
                <a:solidFill>
                  <a:schemeClr val="tx2">
                    <a:lumMod val="75000"/>
                  </a:schemeClr>
                </a:solidFill>
              </a:rPr>
              <a:t> Certificado de existencia y representación legal o documento equivalente. </a:t>
            </a:r>
          </a:p>
          <a:p>
            <a:pPr>
              <a:buFont typeface="Arial" panose="020B0604020202020204" pitchFamily="34" charset="0"/>
              <a:buChar char="•"/>
            </a:pPr>
            <a:r>
              <a:rPr lang="es-MX" sz="1600" dirty="0">
                <a:solidFill>
                  <a:schemeClr val="tx2">
                    <a:lumMod val="75000"/>
                  </a:schemeClr>
                </a:solidFill>
              </a:rPr>
              <a:t> Estatutos, acta constitutiva o acreditación del colectivo (cuando aplique). </a:t>
            </a:r>
          </a:p>
          <a:p>
            <a:endParaRPr lang="es-MX" sz="1200" dirty="0">
              <a:solidFill>
                <a:schemeClr val="tx2">
                  <a:lumMod val="75000"/>
                </a:schemeClr>
              </a:solidFill>
            </a:endParaRPr>
          </a:p>
          <a:p>
            <a:pPr>
              <a:buNone/>
            </a:pPr>
            <a:r>
              <a:rPr lang="es-MX" sz="1600" b="1" dirty="0">
                <a:solidFill>
                  <a:schemeClr val="accent1">
                    <a:lumMod val="75000"/>
                  </a:schemeClr>
                </a:solidFill>
              </a:rPr>
              <a:t>Declaraciones y formatos obligatorios</a:t>
            </a:r>
          </a:p>
          <a:p>
            <a:pPr>
              <a:buNone/>
            </a:pPr>
            <a:endParaRPr lang="es-MX" sz="500" b="1" dirty="0">
              <a:solidFill>
                <a:schemeClr val="accent1">
                  <a:lumMod val="75000"/>
                </a:schemeClr>
              </a:solidFill>
            </a:endParaRPr>
          </a:p>
          <a:p>
            <a:pPr>
              <a:buFont typeface="Arial" panose="020B0604020202020204" pitchFamily="34" charset="0"/>
              <a:buChar char="•"/>
            </a:pPr>
            <a:r>
              <a:rPr lang="es-MX" sz="1600" b="1" dirty="0">
                <a:solidFill>
                  <a:schemeClr val="tx2">
                    <a:lumMod val="75000"/>
                  </a:schemeClr>
                </a:solidFill>
              </a:rPr>
              <a:t> Formato 1:</a:t>
            </a:r>
            <a:r>
              <a:rPr lang="es-MX" sz="1600" dirty="0">
                <a:solidFill>
                  <a:schemeClr val="tx2">
                    <a:lumMod val="75000"/>
                  </a:schemeClr>
                </a:solidFill>
              </a:rPr>
              <a:t> Declaración </a:t>
            </a:r>
            <a:r>
              <a:rPr lang="es-MX" sz="1600" dirty="0" err="1">
                <a:solidFill>
                  <a:schemeClr val="tx2">
                    <a:lumMod val="75000"/>
                  </a:schemeClr>
                </a:solidFill>
              </a:rPr>
              <a:t>extrajuicial</a:t>
            </a:r>
            <a:r>
              <a:rPr lang="es-MX" sz="1600" dirty="0">
                <a:solidFill>
                  <a:schemeClr val="tx2">
                    <a:lumMod val="75000"/>
                  </a:schemeClr>
                </a:solidFill>
              </a:rPr>
              <a:t> de representación en colectivo sin personería jurídica. </a:t>
            </a:r>
          </a:p>
          <a:p>
            <a:pPr>
              <a:buFont typeface="Arial" panose="020B0604020202020204" pitchFamily="34" charset="0"/>
              <a:buChar char="•"/>
            </a:pPr>
            <a:r>
              <a:rPr lang="es-MX" sz="1600" b="1" dirty="0">
                <a:solidFill>
                  <a:schemeClr val="tx2">
                    <a:lumMod val="75000"/>
                  </a:schemeClr>
                </a:solidFill>
              </a:rPr>
              <a:t> Formato 2:</a:t>
            </a:r>
            <a:r>
              <a:rPr lang="es-MX" sz="1600" dirty="0">
                <a:solidFill>
                  <a:schemeClr val="tx2">
                    <a:lumMod val="75000"/>
                  </a:schemeClr>
                </a:solidFill>
              </a:rPr>
              <a:t> Declaración juramentada del postulante al Consejo Consultivo de Seguridad Vial. </a:t>
            </a:r>
          </a:p>
          <a:p>
            <a:pPr>
              <a:buFont typeface="Arial" panose="020B0604020202020204" pitchFamily="34" charset="0"/>
              <a:buChar char="•"/>
            </a:pPr>
            <a:r>
              <a:rPr lang="es-MX" sz="1600" b="1" dirty="0">
                <a:solidFill>
                  <a:schemeClr val="tx2">
                    <a:lumMod val="75000"/>
                  </a:schemeClr>
                </a:solidFill>
              </a:rPr>
              <a:t> Formato 3:</a:t>
            </a:r>
            <a:r>
              <a:rPr lang="es-MX" sz="1600" dirty="0">
                <a:solidFill>
                  <a:schemeClr val="tx2">
                    <a:lumMod val="75000"/>
                  </a:schemeClr>
                </a:solidFill>
              </a:rPr>
              <a:t> Certificación o acta de designación del postulante. </a:t>
            </a:r>
          </a:p>
          <a:p>
            <a:pPr>
              <a:buFont typeface="Arial" panose="020B0604020202020204" pitchFamily="34" charset="0"/>
              <a:buChar char="•"/>
            </a:pPr>
            <a:r>
              <a:rPr lang="es-MX" sz="1600" b="1" dirty="0">
                <a:solidFill>
                  <a:schemeClr val="tx2">
                    <a:lumMod val="75000"/>
                  </a:schemeClr>
                </a:solidFill>
              </a:rPr>
              <a:t> Formato 4:</a:t>
            </a:r>
            <a:r>
              <a:rPr lang="es-MX" sz="1600" dirty="0">
                <a:solidFill>
                  <a:schemeClr val="tx2">
                    <a:lumMod val="75000"/>
                  </a:schemeClr>
                </a:solidFill>
              </a:rPr>
              <a:t> Carta de compromiso del postulante. </a:t>
            </a:r>
          </a:p>
          <a:p>
            <a:pPr>
              <a:buFont typeface="Arial" panose="020B0604020202020204" pitchFamily="34" charset="0"/>
              <a:buChar char="•"/>
            </a:pPr>
            <a:r>
              <a:rPr lang="es-MX" sz="1600" b="1" dirty="0">
                <a:solidFill>
                  <a:schemeClr val="tx2">
                    <a:lumMod val="75000"/>
                  </a:schemeClr>
                </a:solidFill>
              </a:rPr>
              <a:t> Formato 5:</a:t>
            </a:r>
            <a:r>
              <a:rPr lang="es-MX" sz="1600" dirty="0">
                <a:solidFill>
                  <a:schemeClr val="tx2">
                    <a:lumMod val="75000"/>
                  </a:schemeClr>
                </a:solidFill>
              </a:rPr>
              <a:t> Autorización para publicación y uso de video. </a:t>
            </a:r>
          </a:p>
          <a:p>
            <a:endParaRPr lang="es-MX" sz="1200" dirty="0">
              <a:solidFill>
                <a:schemeClr val="tx2">
                  <a:lumMod val="75000"/>
                </a:schemeClr>
              </a:solidFill>
            </a:endParaRPr>
          </a:p>
          <a:p>
            <a:pPr>
              <a:buNone/>
            </a:pPr>
            <a:r>
              <a:rPr lang="es-MX" sz="1600" b="1" dirty="0">
                <a:solidFill>
                  <a:schemeClr val="accent1">
                    <a:lumMod val="75000"/>
                  </a:schemeClr>
                </a:solidFill>
              </a:rPr>
              <a:t>Soportes complementarios</a:t>
            </a:r>
          </a:p>
          <a:p>
            <a:pPr>
              <a:buNone/>
            </a:pPr>
            <a:endParaRPr lang="es-MX" sz="700" b="1" dirty="0">
              <a:solidFill>
                <a:schemeClr val="accent1">
                  <a:lumMod val="75000"/>
                </a:schemeClr>
              </a:solidFill>
            </a:endParaRPr>
          </a:p>
          <a:p>
            <a:pPr>
              <a:buFont typeface="Arial" panose="020B0604020202020204" pitchFamily="34" charset="0"/>
              <a:buChar char="•"/>
            </a:pPr>
            <a:r>
              <a:rPr lang="es-MX" sz="1600" dirty="0">
                <a:solidFill>
                  <a:schemeClr val="tx2">
                    <a:lumMod val="75000"/>
                  </a:schemeClr>
                </a:solidFill>
              </a:rPr>
              <a:t> Fotografía reciente. </a:t>
            </a:r>
          </a:p>
          <a:p>
            <a:pPr>
              <a:buFont typeface="Arial" panose="020B0604020202020204" pitchFamily="34" charset="0"/>
              <a:buChar char="•"/>
            </a:pPr>
            <a:r>
              <a:rPr lang="es-MX" sz="1600" dirty="0">
                <a:solidFill>
                  <a:schemeClr val="tx2">
                    <a:lumMod val="75000"/>
                  </a:schemeClr>
                </a:solidFill>
              </a:rPr>
              <a:t> Video de presentación del postulante. </a:t>
            </a:r>
          </a:p>
        </p:txBody>
      </p:sp>
    </p:spTree>
    <p:extLst>
      <p:ext uri="{BB962C8B-B14F-4D97-AF65-F5344CB8AC3E}">
        <p14:creationId xmlns:p14="http://schemas.microsoft.com/office/powerpoint/2010/main" val="417698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2DB20-9A19-1577-F708-8B8230FB4DBD}"/>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0BCE11C-BA67-AF98-5AED-649855FA9375}"/>
              </a:ext>
            </a:extLst>
          </p:cNvPr>
          <p:cNvSpPr/>
          <p:nvPr/>
        </p:nvSpPr>
        <p:spPr>
          <a:xfrm>
            <a:off x="1058961" y="1190083"/>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s-MX" sz="2400" b="1" dirty="0">
                <a:solidFill>
                  <a:schemeClr val="accent1">
                    <a:lumMod val="75000"/>
                  </a:schemeClr>
                </a:solidFill>
              </a:rPr>
              <a:t>ASPECTOS CLAVE DE VERIFICACIÓN</a:t>
            </a:r>
          </a:p>
        </p:txBody>
      </p:sp>
      <p:sp>
        <p:nvSpPr>
          <p:cNvPr id="25" name="Rectángulo 24">
            <a:extLst>
              <a:ext uri="{FF2B5EF4-FFF2-40B4-BE49-F238E27FC236}">
                <a16:creationId xmlns:a16="http://schemas.microsoft.com/office/drawing/2014/main" id="{DFA41A2D-9372-116C-998C-73484A2AFF3C}"/>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60BECC32-AE4C-F4A4-4F07-0686A3FF5DEE}"/>
              </a:ext>
            </a:extLst>
          </p:cNvPr>
          <p:cNvSpPr/>
          <p:nvPr/>
        </p:nvSpPr>
        <p:spPr>
          <a:xfrm>
            <a:off x="1058961" y="1247218"/>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sp>
        <p:nvSpPr>
          <p:cNvPr id="4" name="CuadroTexto 3">
            <a:extLst>
              <a:ext uri="{FF2B5EF4-FFF2-40B4-BE49-F238E27FC236}">
                <a16:creationId xmlns:a16="http://schemas.microsoft.com/office/drawing/2014/main" id="{DC596911-6F6E-A417-36D2-1ED90B4780C0}"/>
              </a:ext>
            </a:extLst>
          </p:cNvPr>
          <p:cNvSpPr txBox="1"/>
          <p:nvPr/>
        </p:nvSpPr>
        <p:spPr>
          <a:xfrm>
            <a:off x="605176" y="1606616"/>
            <a:ext cx="3551188" cy="5101397"/>
          </a:xfrm>
          <a:prstGeom prst="rect">
            <a:avLst/>
          </a:prstGeom>
          <a:noFill/>
        </p:spPr>
        <p:txBody>
          <a:bodyPr wrap="square">
            <a:spAutoFit/>
          </a:bodyPr>
          <a:lstStyle/>
          <a:p>
            <a:pPr>
              <a:buNone/>
            </a:pPr>
            <a:r>
              <a:rPr lang="es-MX" b="1" dirty="0">
                <a:solidFill>
                  <a:schemeClr val="tx2">
                    <a:lumMod val="75000"/>
                  </a:schemeClr>
                </a:solidFill>
              </a:rPr>
              <a:t>Formato 1</a:t>
            </a:r>
          </a:p>
          <a:p>
            <a:pPr>
              <a:buNone/>
            </a:pPr>
            <a:endParaRPr lang="es-MX" sz="1050" b="1" dirty="0">
              <a:solidFill>
                <a:schemeClr val="tx2">
                  <a:lumMod val="75000"/>
                </a:schemeClr>
              </a:solidFill>
            </a:endParaRPr>
          </a:p>
          <a:p>
            <a:pPr>
              <a:buNone/>
            </a:pPr>
            <a:r>
              <a:rPr lang="es-MX" sz="1600" b="1" dirty="0">
                <a:solidFill>
                  <a:schemeClr val="tx2">
                    <a:lumMod val="75000"/>
                  </a:schemeClr>
                </a:solidFill>
              </a:rPr>
              <a:t>Declaración </a:t>
            </a:r>
            <a:r>
              <a:rPr lang="es-MX" sz="1600" b="1" dirty="0" err="1">
                <a:solidFill>
                  <a:schemeClr val="tx2">
                    <a:lumMod val="75000"/>
                  </a:schemeClr>
                </a:solidFill>
              </a:rPr>
              <a:t>extrajuicio</a:t>
            </a:r>
            <a:endParaRPr lang="es-MX" sz="1600" b="1" dirty="0">
              <a:solidFill>
                <a:schemeClr val="tx2">
                  <a:lumMod val="75000"/>
                </a:schemeClr>
              </a:solidFill>
            </a:endParaRPr>
          </a:p>
          <a:p>
            <a:pPr>
              <a:buNone/>
            </a:pPr>
            <a:r>
              <a:rPr lang="es-MX" sz="1700" dirty="0">
                <a:solidFill>
                  <a:schemeClr val="tx2">
                    <a:lumMod val="75000"/>
                  </a:schemeClr>
                </a:solidFill>
              </a:rPr>
              <a:t>Aplica para colectivos sin personería jurídica y debe acreditar:</a:t>
            </a:r>
          </a:p>
          <a:p>
            <a:pPr>
              <a:buFont typeface="Arial" panose="020B0604020202020204" pitchFamily="34" charset="0"/>
              <a:buChar char="•"/>
            </a:pPr>
            <a:r>
              <a:rPr lang="es-MX" sz="1700" dirty="0">
                <a:solidFill>
                  <a:schemeClr val="tx2">
                    <a:lumMod val="75000"/>
                  </a:schemeClr>
                </a:solidFill>
              </a:rPr>
              <a:t>participación activa y continua; </a:t>
            </a:r>
          </a:p>
          <a:p>
            <a:pPr>
              <a:buFont typeface="Arial" panose="020B0604020202020204" pitchFamily="34" charset="0"/>
              <a:buChar char="•"/>
            </a:pPr>
            <a:r>
              <a:rPr lang="es-MX" sz="1700" dirty="0">
                <a:solidFill>
                  <a:schemeClr val="tx2">
                    <a:lumMod val="75000"/>
                  </a:schemeClr>
                </a:solidFill>
              </a:rPr>
              <a:t>reconocimiento del colectivo; </a:t>
            </a:r>
          </a:p>
          <a:p>
            <a:pPr>
              <a:buFont typeface="Arial" panose="020B0604020202020204" pitchFamily="34" charset="0"/>
              <a:buChar char="•"/>
            </a:pPr>
            <a:r>
              <a:rPr lang="es-MX" sz="1700" dirty="0">
                <a:solidFill>
                  <a:schemeClr val="tx2">
                    <a:lumMod val="75000"/>
                  </a:schemeClr>
                </a:solidFill>
              </a:rPr>
              <a:t>tiempo de vinculación; </a:t>
            </a:r>
          </a:p>
          <a:p>
            <a:pPr>
              <a:buFont typeface="Arial" panose="020B0604020202020204" pitchFamily="34" charset="0"/>
              <a:buChar char="•"/>
            </a:pPr>
            <a:r>
              <a:rPr lang="es-MX" sz="1700" dirty="0">
                <a:solidFill>
                  <a:schemeClr val="tx2">
                    <a:lumMod val="75000"/>
                  </a:schemeClr>
                </a:solidFill>
              </a:rPr>
              <a:t>naturaleza de participación. </a:t>
            </a:r>
          </a:p>
          <a:p>
            <a:pPr>
              <a:buNone/>
            </a:pPr>
            <a:endParaRPr lang="es-MX" sz="1600" dirty="0">
              <a:solidFill>
                <a:schemeClr val="tx2">
                  <a:lumMod val="75000"/>
                </a:schemeClr>
              </a:solidFill>
            </a:endParaRPr>
          </a:p>
          <a:p>
            <a:pPr>
              <a:buNone/>
            </a:pPr>
            <a:r>
              <a:rPr lang="es-MX" b="1" dirty="0">
                <a:solidFill>
                  <a:schemeClr val="tx2">
                    <a:lumMod val="75000"/>
                  </a:schemeClr>
                </a:solidFill>
              </a:rPr>
              <a:t>Formato 2</a:t>
            </a:r>
          </a:p>
          <a:p>
            <a:pPr>
              <a:buNone/>
            </a:pPr>
            <a:endParaRPr lang="es-MX" sz="1000" b="1" dirty="0">
              <a:solidFill>
                <a:schemeClr val="tx2">
                  <a:lumMod val="75000"/>
                </a:schemeClr>
              </a:solidFill>
            </a:endParaRPr>
          </a:p>
          <a:p>
            <a:pPr>
              <a:buNone/>
            </a:pPr>
            <a:r>
              <a:rPr lang="es-MX" sz="1700" b="1" dirty="0">
                <a:solidFill>
                  <a:schemeClr val="tx2">
                    <a:lumMod val="75000"/>
                  </a:schemeClr>
                </a:solidFill>
              </a:rPr>
              <a:t>Declaración juramentada</a:t>
            </a:r>
          </a:p>
          <a:p>
            <a:pPr>
              <a:buNone/>
            </a:pPr>
            <a:r>
              <a:rPr lang="es-MX" sz="1700" dirty="0">
                <a:solidFill>
                  <a:schemeClr val="tx2">
                    <a:lumMod val="75000"/>
                  </a:schemeClr>
                </a:solidFill>
              </a:rPr>
              <a:t>Debe incluir:</a:t>
            </a:r>
          </a:p>
          <a:p>
            <a:pPr>
              <a:buFont typeface="Arial" panose="020B0604020202020204" pitchFamily="34" charset="0"/>
              <a:buChar char="•"/>
            </a:pPr>
            <a:r>
              <a:rPr lang="es-MX" sz="1700" dirty="0">
                <a:solidFill>
                  <a:schemeClr val="tx2">
                    <a:lumMod val="75000"/>
                  </a:schemeClr>
                </a:solidFill>
              </a:rPr>
              <a:t>experiencia en seguridad vial; </a:t>
            </a:r>
          </a:p>
          <a:p>
            <a:pPr>
              <a:buFont typeface="Arial" panose="020B0604020202020204" pitchFamily="34" charset="0"/>
              <a:buChar char="•"/>
            </a:pPr>
            <a:r>
              <a:rPr lang="es-MX" sz="1700" dirty="0">
                <a:solidFill>
                  <a:schemeClr val="tx2">
                    <a:lumMod val="75000"/>
                  </a:schemeClr>
                </a:solidFill>
              </a:rPr>
              <a:t>participación en el colectivo; </a:t>
            </a:r>
          </a:p>
          <a:p>
            <a:pPr>
              <a:buFont typeface="Arial" panose="020B0604020202020204" pitchFamily="34" charset="0"/>
              <a:buChar char="•"/>
            </a:pPr>
            <a:r>
              <a:rPr lang="es-MX" sz="1700" dirty="0">
                <a:solidFill>
                  <a:schemeClr val="tx2">
                    <a:lumMod val="75000"/>
                  </a:schemeClr>
                </a:solidFill>
              </a:rPr>
              <a:t>condición de discapacidad (si aplica); </a:t>
            </a:r>
          </a:p>
          <a:p>
            <a:pPr>
              <a:buFont typeface="Arial" panose="020B0604020202020204" pitchFamily="34" charset="0"/>
              <a:buChar char="•"/>
            </a:pPr>
            <a:r>
              <a:rPr lang="es-MX" sz="1700" dirty="0">
                <a:solidFill>
                  <a:schemeClr val="tx2">
                    <a:lumMod val="75000"/>
                  </a:schemeClr>
                </a:solidFill>
              </a:rPr>
              <a:t>calidad de cabeza de familia (si aplica). </a:t>
            </a:r>
          </a:p>
          <a:p>
            <a:pPr>
              <a:buNone/>
            </a:pPr>
            <a:endParaRPr lang="es-MX" sz="1600" dirty="0">
              <a:solidFill>
                <a:schemeClr val="tx2">
                  <a:lumMod val="75000"/>
                </a:schemeClr>
              </a:solidFill>
            </a:endParaRPr>
          </a:p>
        </p:txBody>
      </p:sp>
      <p:sp>
        <p:nvSpPr>
          <p:cNvPr id="6" name="CuadroTexto 5">
            <a:extLst>
              <a:ext uri="{FF2B5EF4-FFF2-40B4-BE49-F238E27FC236}">
                <a16:creationId xmlns:a16="http://schemas.microsoft.com/office/drawing/2014/main" id="{D9687F49-24ED-442E-DA71-1D14D2DA6D84}"/>
              </a:ext>
            </a:extLst>
          </p:cNvPr>
          <p:cNvSpPr txBox="1"/>
          <p:nvPr/>
        </p:nvSpPr>
        <p:spPr>
          <a:xfrm>
            <a:off x="4656776" y="1678384"/>
            <a:ext cx="3804723" cy="4501232"/>
          </a:xfrm>
          <a:prstGeom prst="rect">
            <a:avLst/>
          </a:prstGeom>
          <a:noFill/>
        </p:spPr>
        <p:txBody>
          <a:bodyPr wrap="square">
            <a:spAutoFit/>
          </a:bodyPr>
          <a:lstStyle/>
          <a:p>
            <a:pPr>
              <a:buNone/>
            </a:pPr>
            <a:r>
              <a:rPr lang="es-MX" b="1" dirty="0">
                <a:solidFill>
                  <a:schemeClr val="tx2">
                    <a:lumMod val="75000"/>
                  </a:schemeClr>
                </a:solidFill>
              </a:rPr>
              <a:t>Formato 3</a:t>
            </a:r>
          </a:p>
          <a:p>
            <a:pPr>
              <a:buNone/>
            </a:pPr>
            <a:endParaRPr lang="es-MX" sz="1050" b="1" dirty="0">
              <a:solidFill>
                <a:schemeClr val="tx2">
                  <a:lumMod val="75000"/>
                </a:schemeClr>
              </a:solidFill>
            </a:endParaRPr>
          </a:p>
          <a:p>
            <a:pPr>
              <a:buNone/>
            </a:pPr>
            <a:r>
              <a:rPr lang="es-MX" sz="1600" b="1" dirty="0">
                <a:solidFill>
                  <a:schemeClr val="tx2">
                    <a:lumMod val="75000"/>
                  </a:schemeClr>
                </a:solidFill>
              </a:rPr>
              <a:t>Certificación o acta de designación</a:t>
            </a:r>
          </a:p>
          <a:p>
            <a:pPr>
              <a:buNone/>
            </a:pPr>
            <a:r>
              <a:rPr lang="es-MX" sz="1700" dirty="0">
                <a:solidFill>
                  <a:schemeClr val="tx2">
                    <a:lumMod val="75000"/>
                  </a:schemeClr>
                </a:solidFill>
              </a:rPr>
              <a:t>Debe contener:</a:t>
            </a:r>
          </a:p>
          <a:p>
            <a:pPr>
              <a:buFont typeface="Arial" panose="020B0604020202020204" pitchFamily="34" charset="0"/>
              <a:buChar char="•"/>
            </a:pPr>
            <a:r>
              <a:rPr lang="es-MX" sz="1700" dirty="0">
                <a:solidFill>
                  <a:schemeClr val="tx2">
                    <a:lumMod val="75000"/>
                  </a:schemeClr>
                </a:solidFill>
              </a:rPr>
              <a:t>nombre del colectivo; </a:t>
            </a:r>
          </a:p>
          <a:p>
            <a:pPr>
              <a:buFont typeface="Arial" panose="020B0604020202020204" pitchFamily="34" charset="0"/>
              <a:buChar char="•"/>
            </a:pPr>
            <a:r>
              <a:rPr lang="es-MX" sz="1700" dirty="0">
                <a:solidFill>
                  <a:schemeClr val="tx2">
                    <a:lumMod val="75000"/>
                  </a:schemeClr>
                </a:solidFill>
              </a:rPr>
              <a:t>nombre del postulante; </a:t>
            </a:r>
          </a:p>
          <a:p>
            <a:pPr>
              <a:buFont typeface="Arial" panose="020B0604020202020204" pitchFamily="34" charset="0"/>
              <a:buChar char="•"/>
            </a:pPr>
            <a:r>
              <a:rPr lang="es-MX" sz="1700" dirty="0">
                <a:solidFill>
                  <a:schemeClr val="tx2">
                    <a:lumMod val="75000"/>
                  </a:schemeClr>
                </a:solidFill>
              </a:rPr>
              <a:t>respaldo de los miembros del colectivo. </a:t>
            </a:r>
          </a:p>
          <a:p>
            <a:pPr>
              <a:buNone/>
            </a:pPr>
            <a:endParaRPr lang="es-MX" sz="2800" dirty="0">
              <a:solidFill>
                <a:schemeClr val="tx2">
                  <a:lumMod val="75000"/>
                </a:schemeClr>
              </a:solidFill>
            </a:endParaRPr>
          </a:p>
          <a:p>
            <a:pPr>
              <a:buNone/>
            </a:pPr>
            <a:br>
              <a:rPr lang="es-MX" sz="1600" dirty="0">
                <a:solidFill>
                  <a:schemeClr val="tx2">
                    <a:lumMod val="75000"/>
                  </a:schemeClr>
                </a:solidFill>
              </a:rPr>
            </a:br>
            <a:r>
              <a:rPr lang="es-MX" b="1" dirty="0">
                <a:solidFill>
                  <a:schemeClr val="tx2">
                    <a:lumMod val="75000"/>
                  </a:schemeClr>
                </a:solidFill>
              </a:rPr>
              <a:t>Formatos 4 y 5</a:t>
            </a:r>
          </a:p>
          <a:p>
            <a:pPr>
              <a:buNone/>
            </a:pPr>
            <a:endParaRPr lang="es-MX" sz="1000" b="1" dirty="0">
              <a:solidFill>
                <a:schemeClr val="tx2">
                  <a:lumMod val="75000"/>
                </a:schemeClr>
              </a:solidFill>
            </a:endParaRPr>
          </a:p>
          <a:p>
            <a:pPr>
              <a:buNone/>
            </a:pPr>
            <a:r>
              <a:rPr lang="es-MX" sz="1700" b="1" dirty="0">
                <a:solidFill>
                  <a:schemeClr val="tx2">
                    <a:lumMod val="75000"/>
                  </a:schemeClr>
                </a:solidFill>
              </a:rPr>
              <a:t>Carta de compromiso</a:t>
            </a:r>
          </a:p>
          <a:p>
            <a:pPr>
              <a:buNone/>
            </a:pPr>
            <a:r>
              <a:rPr lang="es-MX" sz="1700" dirty="0">
                <a:solidFill>
                  <a:schemeClr val="tx2">
                    <a:lumMod val="75000"/>
                  </a:schemeClr>
                </a:solidFill>
              </a:rPr>
              <a:t>Compromiso ético, participativo y de representación.</a:t>
            </a:r>
          </a:p>
          <a:p>
            <a:pPr>
              <a:buNone/>
            </a:pPr>
            <a:r>
              <a:rPr lang="es-MX" sz="1700" b="1" dirty="0">
                <a:solidFill>
                  <a:schemeClr val="tx2">
                    <a:lumMod val="75000"/>
                  </a:schemeClr>
                </a:solidFill>
              </a:rPr>
              <a:t>Autorización de video</a:t>
            </a:r>
          </a:p>
          <a:p>
            <a:pPr>
              <a:buNone/>
            </a:pPr>
            <a:r>
              <a:rPr lang="es-MX" sz="1700" dirty="0">
                <a:solidFill>
                  <a:schemeClr val="tx2">
                    <a:lumMod val="75000"/>
                  </a:schemeClr>
                </a:solidFill>
              </a:rPr>
              <a:t>Permite publicación y difusión institucional del video del postulante</a:t>
            </a:r>
            <a:r>
              <a:rPr lang="es-MX" sz="1700" dirty="0">
                <a:solidFill>
                  <a:schemeClr val="accent1">
                    <a:lumMod val="75000"/>
                  </a:schemeClr>
                </a:solidFill>
              </a:rPr>
              <a:t>.</a:t>
            </a:r>
          </a:p>
        </p:txBody>
      </p:sp>
    </p:spTree>
    <p:extLst>
      <p:ext uri="{BB962C8B-B14F-4D97-AF65-F5344CB8AC3E}">
        <p14:creationId xmlns:p14="http://schemas.microsoft.com/office/powerpoint/2010/main" val="1915156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258CB-C5E1-7FE1-94DE-B2CBE50813F7}"/>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150C86A-7851-2BD7-EEE7-A0F8746AF368}"/>
              </a:ext>
            </a:extLst>
          </p:cNvPr>
          <p:cNvSpPr/>
          <p:nvPr/>
        </p:nvSpPr>
        <p:spPr>
          <a:xfrm>
            <a:off x="1058961" y="120960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endParaRPr lang="es-MX" sz="2400" b="1" dirty="0">
              <a:solidFill>
                <a:schemeClr val="accent1">
                  <a:lumMod val="75000"/>
                </a:schemeClr>
              </a:solidFill>
            </a:endParaRPr>
          </a:p>
        </p:txBody>
      </p:sp>
      <p:sp>
        <p:nvSpPr>
          <p:cNvPr id="25" name="Rectángulo 24">
            <a:extLst>
              <a:ext uri="{FF2B5EF4-FFF2-40B4-BE49-F238E27FC236}">
                <a16:creationId xmlns:a16="http://schemas.microsoft.com/office/drawing/2014/main" id="{C4CF5C73-9F8B-4492-4B9D-ED6FC6A5845C}"/>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A704B1EC-471B-AB4D-854B-A45C7FE0E823}"/>
              </a:ext>
            </a:extLst>
          </p:cNvPr>
          <p:cNvSpPr/>
          <p:nvPr/>
        </p:nvSpPr>
        <p:spPr>
          <a:xfrm>
            <a:off x="605175" y="1781086"/>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sp>
        <p:nvSpPr>
          <p:cNvPr id="5" name="CuadroTexto 4">
            <a:extLst>
              <a:ext uri="{FF2B5EF4-FFF2-40B4-BE49-F238E27FC236}">
                <a16:creationId xmlns:a16="http://schemas.microsoft.com/office/drawing/2014/main" id="{750FEEE2-5DDB-DC40-89A7-0140BEB8A2A0}"/>
              </a:ext>
            </a:extLst>
          </p:cNvPr>
          <p:cNvSpPr txBox="1"/>
          <p:nvPr/>
        </p:nvSpPr>
        <p:spPr>
          <a:xfrm>
            <a:off x="1604788" y="2660521"/>
            <a:ext cx="5660535" cy="2246769"/>
          </a:xfrm>
          <a:prstGeom prst="rect">
            <a:avLst/>
          </a:prstGeom>
          <a:noFill/>
        </p:spPr>
        <p:txBody>
          <a:bodyPr wrap="square">
            <a:spAutoFit/>
          </a:bodyPr>
          <a:lstStyle/>
          <a:p>
            <a:r>
              <a:rPr lang="es-MX" sz="2000" dirty="0">
                <a:solidFill>
                  <a:schemeClr val="tx2">
                    <a:lumMod val="75000"/>
                  </a:schemeClr>
                </a:solidFill>
              </a:rPr>
              <a:t>Toda la </a:t>
            </a:r>
            <a:r>
              <a:rPr lang="es-MX" sz="2000" dirty="0">
                <a:solidFill>
                  <a:schemeClr val="tx2">
                    <a:lumMod val="75000"/>
                  </a:schemeClr>
                </a:solidFill>
                <a:effectLst>
                  <a:outerShdw blurRad="38100" dist="38100" dir="2700000" algn="tl">
                    <a:srgbClr val="000000">
                      <a:alpha val="43137"/>
                    </a:srgbClr>
                  </a:outerShdw>
                </a:effectLst>
              </a:rPr>
              <a:t>documentación</a:t>
            </a:r>
            <a:r>
              <a:rPr lang="es-MX" sz="2000" dirty="0">
                <a:solidFill>
                  <a:schemeClr val="tx2">
                    <a:lumMod val="75000"/>
                  </a:schemeClr>
                </a:solidFill>
              </a:rPr>
              <a:t> debe:</a:t>
            </a:r>
          </a:p>
          <a:p>
            <a:endParaRPr lang="es-MX" sz="2000" dirty="0">
              <a:solidFill>
                <a:schemeClr val="tx2">
                  <a:lumMod val="75000"/>
                </a:schemeClr>
              </a:solidFill>
            </a:endParaRPr>
          </a:p>
          <a:p>
            <a:pPr marL="257175" indent="-257175">
              <a:buFont typeface="Arial" panose="020B0604020202020204" pitchFamily="34" charset="0"/>
              <a:buChar char="•"/>
            </a:pPr>
            <a:r>
              <a:rPr lang="es-MX" sz="2000" dirty="0">
                <a:solidFill>
                  <a:schemeClr val="tx2">
                    <a:lumMod val="75000"/>
                  </a:schemeClr>
                </a:solidFill>
              </a:rPr>
              <a:t>presentarse en formatos oficiales; </a:t>
            </a:r>
          </a:p>
          <a:p>
            <a:pPr marL="257175" indent="-257175">
              <a:buFont typeface="Arial" panose="020B0604020202020204" pitchFamily="34" charset="0"/>
              <a:buChar char="•"/>
            </a:pPr>
            <a:r>
              <a:rPr lang="es-MX" sz="2000" dirty="0">
                <a:solidFill>
                  <a:schemeClr val="tx2">
                    <a:lumMod val="75000"/>
                  </a:schemeClr>
                </a:solidFill>
              </a:rPr>
              <a:t>encontrarse autenticada cuando corresponda; </a:t>
            </a:r>
          </a:p>
          <a:p>
            <a:pPr marL="257175" indent="-257175">
              <a:buFont typeface="Arial" panose="020B0604020202020204" pitchFamily="34" charset="0"/>
              <a:buChar char="•"/>
            </a:pPr>
            <a:r>
              <a:rPr lang="es-MX" sz="2000" dirty="0">
                <a:solidFill>
                  <a:schemeClr val="tx2">
                    <a:lumMod val="75000"/>
                  </a:schemeClr>
                </a:solidFill>
              </a:rPr>
              <a:t>ser legible y completa; </a:t>
            </a:r>
          </a:p>
          <a:p>
            <a:pPr marL="257175" indent="-257175">
              <a:buFont typeface="Arial" panose="020B0604020202020204" pitchFamily="34" charset="0"/>
              <a:buChar char="•"/>
            </a:pPr>
            <a:r>
              <a:rPr lang="es-MX" sz="2000" dirty="0">
                <a:solidFill>
                  <a:schemeClr val="tx2">
                    <a:lumMod val="75000"/>
                  </a:schemeClr>
                </a:solidFill>
              </a:rPr>
              <a:t>y entregarse dentro de los términos establecidos.</a:t>
            </a:r>
          </a:p>
          <a:p>
            <a:endParaRPr lang="es-MX" sz="2000" dirty="0">
              <a:solidFill>
                <a:schemeClr val="tx2">
                  <a:lumMod val="75000"/>
                </a:schemeClr>
              </a:solidFill>
            </a:endParaRPr>
          </a:p>
        </p:txBody>
      </p:sp>
      <p:sp>
        <p:nvSpPr>
          <p:cNvPr id="8" name="CuadroTexto 7">
            <a:extLst>
              <a:ext uri="{FF2B5EF4-FFF2-40B4-BE49-F238E27FC236}">
                <a16:creationId xmlns:a16="http://schemas.microsoft.com/office/drawing/2014/main" id="{37D0C204-4FA7-3FB8-6901-821567D592C2}"/>
              </a:ext>
            </a:extLst>
          </p:cNvPr>
          <p:cNvSpPr txBox="1"/>
          <p:nvPr/>
        </p:nvSpPr>
        <p:spPr>
          <a:xfrm>
            <a:off x="1495080" y="1606617"/>
            <a:ext cx="5336338" cy="715581"/>
          </a:xfrm>
          <a:prstGeom prst="rect">
            <a:avLst/>
          </a:prstGeom>
          <a:noFill/>
        </p:spPr>
        <p:txBody>
          <a:bodyPr wrap="square">
            <a:spAutoFit/>
          </a:bodyPr>
          <a:lstStyle/>
          <a:p>
            <a:pPr>
              <a:buNone/>
            </a:pPr>
            <a:r>
              <a:rPr lang="es-MX" sz="2700" b="1" dirty="0">
                <a:solidFill>
                  <a:schemeClr val="accent1">
                    <a:lumMod val="75000"/>
                  </a:schemeClr>
                </a:solidFill>
              </a:rPr>
              <a:t>Importante para la Comisión</a:t>
            </a:r>
          </a:p>
          <a:p>
            <a:pPr>
              <a:buNone/>
            </a:pPr>
            <a:endParaRPr lang="es-MX" sz="1350" dirty="0">
              <a:solidFill>
                <a:schemeClr val="accent1">
                  <a:lumMod val="75000"/>
                </a:schemeClr>
              </a:solidFill>
            </a:endParaRPr>
          </a:p>
        </p:txBody>
      </p:sp>
    </p:spTree>
    <p:extLst>
      <p:ext uri="{BB962C8B-B14F-4D97-AF65-F5344CB8AC3E}">
        <p14:creationId xmlns:p14="http://schemas.microsoft.com/office/powerpoint/2010/main" val="249457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85E1B-97CC-41FA-63D1-983BD6E2E59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6427C73-BA13-3DF1-5A1F-3BC80FED8CA4}"/>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5" name="Rectángulo 24">
            <a:extLst>
              <a:ext uri="{FF2B5EF4-FFF2-40B4-BE49-F238E27FC236}">
                <a16:creationId xmlns:a16="http://schemas.microsoft.com/office/drawing/2014/main" id="{7863756B-13BD-5215-553C-9CE23DABCF80}"/>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98B056BF-38A3-78EF-B1C3-E63D971AD017}"/>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C02FBA44-D3E4-F032-40F9-7A49F723BC16}"/>
              </a:ext>
            </a:extLst>
          </p:cNvPr>
          <p:cNvCxnSpPr>
            <a:cxnSpLocks/>
          </p:cNvCxnSpPr>
          <p:nvPr/>
        </p:nvCxnSpPr>
        <p:spPr>
          <a:xfrm flipV="1">
            <a:off x="1371708" y="2747503"/>
            <a:ext cx="0" cy="2536881"/>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9450B505-B651-F9E2-60C8-70B7F5306060}"/>
              </a:ext>
            </a:extLst>
          </p:cNvPr>
          <p:cNvSpPr txBox="1"/>
          <p:nvPr/>
        </p:nvSpPr>
        <p:spPr>
          <a:xfrm>
            <a:off x="1711530" y="2091365"/>
            <a:ext cx="4572000" cy="4247317"/>
          </a:xfrm>
          <a:prstGeom prst="rect">
            <a:avLst/>
          </a:prstGeom>
          <a:noFill/>
        </p:spPr>
        <p:txBody>
          <a:bodyPr wrap="square">
            <a:spAutoFit/>
          </a:bodyPr>
          <a:lstStyle/>
          <a:p>
            <a:pPr>
              <a:buNone/>
            </a:pPr>
            <a:r>
              <a:rPr lang="es-MX" sz="2000" b="1" dirty="0">
                <a:solidFill>
                  <a:schemeClr val="accent2"/>
                </a:solidFill>
              </a:rPr>
              <a:t>Aspectos mínimos</a:t>
            </a:r>
          </a:p>
          <a:p>
            <a:pPr>
              <a:buNone/>
            </a:pPr>
            <a:endParaRPr lang="es-MX" b="1" dirty="0">
              <a:solidFill>
                <a:schemeClr val="accent2"/>
              </a:solidFill>
            </a:endParaRPr>
          </a:p>
          <a:p>
            <a:pPr>
              <a:buNone/>
            </a:pPr>
            <a:r>
              <a:rPr lang="es-MX" b="1" dirty="0">
                <a:solidFill>
                  <a:schemeClr val="tx2">
                    <a:lumMod val="75000"/>
                  </a:schemeClr>
                </a:solidFill>
              </a:rPr>
              <a:t>Jurídicos</a:t>
            </a:r>
          </a:p>
          <a:p>
            <a:pPr>
              <a:buFont typeface="Arial" panose="020B0604020202020204" pitchFamily="34" charset="0"/>
              <a:buChar char="•"/>
            </a:pPr>
            <a:r>
              <a:rPr lang="es-MX" dirty="0">
                <a:solidFill>
                  <a:schemeClr val="tx2">
                    <a:lumMod val="75000"/>
                  </a:schemeClr>
                </a:solidFill>
              </a:rPr>
              <a:t>Identificación. </a:t>
            </a:r>
          </a:p>
          <a:p>
            <a:pPr>
              <a:buFont typeface="Arial" panose="020B0604020202020204" pitchFamily="34" charset="0"/>
              <a:buChar char="•"/>
            </a:pPr>
            <a:r>
              <a:rPr lang="es-MX" dirty="0">
                <a:solidFill>
                  <a:schemeClr val="tx2">
                    <a:lumMod val="75000"/>
                  </a:schemeClr>
                </a:solidFill>
              </a:rPr>
              <a:t>Representación. </a:t>
            </a:r>
          </a:p>
          <a:p>
            <a:pPr>
              <a:buFont typeface="Arial" panose="020B0604020202020204" pitchFamily="34" charset="0"/>
              <a:buChar char="•"/>
            </a:pPr>
            <a:r>
              <a:rPr lang="es-MX" dirty="0">
                <a:solidFill>
                  <a:schemeClr val="tx2">
                    <a:lumMod val="75000"/>
                  </a:schemeClr>
                </a:solidFill>
              </a:rPr>
              <a:t>Soportes. </a:t>
            </a:r>
          </a:p>
          <a:p>
            <a:endParaRPr lang="es-MX" dirty="0">
              <a:solidFill>
                <a:schemeClr val="tx2">
                  <a:lumMod val="75000"/>
                </a:schemeClr>
              </a:solidFill>
            </a:endParaRPr>
          </a:p>
          <a:p>
            <a:pPr>
              <a:buNone/>
            </a:pPr>
            <a:r>
              <a:rPr lang="es-MX" b="1" dirty="0">
                <a:solidFill>
                  <a:schemeClr val="tx2">
                    <a:lumMod val="75000"/>
                  </a:schemeClr>
                </a:solidFill>
              </a:rPr>
              <a:t>Técnicos</a:t>
            </a:r>
          </a:p>
          <a:p>
            <a:pPr>
              <a:buFont typeface="Arial" panose="020B0604020202020204" pitchFamily="34" charset="0"/>
              <a:buChar char="•"/>
            </a:pPr>
            <a:r>
              <a:rPr lang="es-MX" dirty="0">
                <a:solidFill>
                  <a:schemeClr val="tx2">
                    <a:lumMod val="75000"/>
                  </a:schemeClr>
                </a:solidFill>
              </a:rPr>
              <a:t> Relación con colectivo. </a:t>
            </a:r>
          </a:p>
          <a:p>
            <a:pPr>
              <a:buFont typeface="Arial" panose="020B0604020202020204" pitchFamily="34" charset="0"/>
              <a:buChar char="•"/>
            </a:pPr>
            <a:r>
              <a:rPr lang="es-MX" dirty="0">
                <a:solidFill>
                  <a:schemeClr val="tx2">
                    <a:lumMod val="75000"/>
                  </a:schemeClr>
                </a:solidFill>
              </a:rPr>
              <a:t> Participación acreditada.</a:t>
            </a:r>
          </a:p>
          <a:p>
            <a:r>
              <a:rPr lang="es-MX" dirty="0">
                <a:solidFill>
                  <a:schemeClr val="tx2">
                    <a:lumMod val="75000"/>
                  </a:schemeClr>
                </a:solidFill>
              </a:rPr>
              <a:t> </a:t>
            </a:r>
          </a:p>
          <a:p>
            <a:pPr>
              <a:buNone/>
            </a:pPr>
            <a:r>
              <a:rPr lang="es-MX" b="1" dirty="0">
                <a:solidFill>
                  <a:schemeClr val="tx2">
                    <a:lumMod val="75000"/>
                  </a:schemeClr>
                </a:solidFill>
              </a:rPr>
              <a:t>Documentales</a:t>
            </a:r>
          </a:p>
          <a:p>
            <a:pPr>
              <a:buFont typeface="Arial" panose="020B0604020202020204" pitchFamily="34" charset="0"/>
              <a:buChar char="•"/>
            </a:pPr>
            <a:r>
              <a:rPr lang="es-MX" dirty="0">
                <a:solidFill>
                  <a:schemeClr val="tx2">
                    <a:lumMod val="75000"/>
                  </a:schemeClr>
                </a:solidFill>
              </a:rPr>
              <a:t> Integridad. </a:t>
            </a:r>
          </a:p>
          <a:p>
            <a:pPr>
              <a:buFont typeface="Arial" panose="020B0604020202020204" pitchFamily="34" charset="0"/>
              <a:buChar char="•"/>
            </a:pPr>
            <a:r>
              <a:rPr lang="es-MX" dirty="0">
                <a:solidFill>
                  <a:schemeClr val="tx2">
                    <a:lumMod val="75000"/>
                  </a:schemeClr>
                </a:solidFill>
              </a:rPr>
              <a:t> Legibilidad. </a:t>
            </a:r>
          </a:p>
          <a:p>
            <a:pPr>
              <a:buFont typeface="Arial" panose="020B0604020202020204" pitchFamily="34" charset="0"/>
              <a:buChar char="•"/>
            </a:pPr>
            <a:r>
              <a:rPr lang="es-MX" dirty="0">
                <a:solidFill>
                  <a:schemeClr val="tx2">
                    <a:lumMod val="75000"/>
                  </a:schemeClr>
                </a:solidFill>
              </a:rPr>
              <a:t> Coherencia documental.</a:t>
            </a:r>
          </a:p>
        </p:txBody>
      </p:sp>
      <p:sp>
        <p:nvSpPr>
          <p:cNvPr id="7" name="CuadroTexto 6">
            <a:extLst>
              <a:ext uri="{FF2B5EF4-FFF2-40B4-BE49-F238E27FC236}">
                <a16:creationId xmlns:a16="http://schemas.microsoft.com/office/drawing/2014/main" id="{6D4638CC-864E-498B-2A5A-E48BF771C39D}"/>
              </a:ext>
            </a:extLst>
          </p:cNvPr>
          <p:cNvSpPr txBox="1"/>
          <p:nvPr/>
        </p:nvSpPr>
        <p:spPr>
          <a:xfrm>
            <a:off x="1631372" y="1309009"/>
            <a:ext cx="4572000" cy="507831"/>
          </a:xfrm>
          <a:prstGeom prst="rect">
            <a:avLst/>
          </a:prstGeom>
          <a:noFill/>
        </p:spPr>
        <p:txBody>
          <a:bodyPr wrap="square">
            <a:spAutoFit/>
          </a:bodyPr>
          <a:lstStyle/>
          <a:p>
            <a:pPr>
              <a:buNone/>
            </a:pPr>
            <a:r>
              <a:rPr lang="es-MX" sz="2700" b="1" dirty="0">
                <a:solidFill>
                  <a:schemeClr val="accent1">
                    <a:lumMod val="75000"/>
                  </a:schemeClr>
                </a:solidFill>
              </a:rPr>
              <a:t>CRITERIOS DE REVISIÓN</a:t>
            </a:r>
          </a:p>
        </p:txBody>
      </p:sp>
    </p:spTree>
    <p:extLst>
      <p:ext uri="{BB962C8B-B14F-4D97-AF65-F5344CB8AC3E}">
        <p14:creationId xmlns:p14="http://schemas.microsoft.com/office/powerpoint/2010/main" val="392870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98080-3910-B0FE-099A-3A45029C50D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0CC8A38-D4F7-D403-AD77-C73BF86D41E3}"/>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5" name="Rectángulo 24">
            <a:extLst>
              <a:ext uri="{FF2B5EF4-FFF2-40B4-BE49-F238E27FC236}">
                <a16:creationId xmlns:a16="http://schemas.microsoft.com/office/drawing/2014/main" id="{DF93473D-3216-E2AD-5A4C-7CA995C7629B}"/>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C7D8E517-E2B6-7F13-E3E0-EDED7D2884AA}"/>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E2570F46-5370-151D-BE77-DD467971BFC4}"/>
              </a:ext>
            </a:extLst>
          </p:cNvPr>
          <p:cNvCxnSpPr>
            <a:cxnSpLocks/>
          </p:cNvCxnSpPr>
          <p:nvPr/>
        </p:nvCxnSpPr>
        <p:spPr>
          <a:xfrm flipV="1">
            <a:off x="1402880" y="2575015"/>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3A9903BE-B723-2A77-8D56-BDC456C3C828}"/>
              </a:ext>
            </a:extLst>
          </p:cNvPr>
          <p:cNvSpPr txBox="1"/>
          <p:nvPr/>
        </p:nvSpPr>
        <p:spPr>
          <a:xfrm>
            <a:off x="1756064" y="2532170"/>
            <a:ext cx="4655120" cy="2862322"/>
          </a:xfrm>
          <a:prstGeom prst="rect">
            <a:avLst/>
          </a:prstGeom>
          <a:noFill/>
        </p:spPr>
        <p:txBody>
          <a:bodyPr wrap="square">
            <a:spAutoFit/>
          </a:bodyPr>
          <a:lstStyle/>
          <a:p>
            <a:pPr>
              <a:buNone/>
            </a:pPr>
            <a:r>
              <a:rPr lang="es-MX" sz="2000" b="1" dirty="0">
                <a:solidFill>
                  <a:schemeClr val="tx2">
                    <a:lumMod val="75000"/>
                  </a:schemeClr>
                </a:solidFill>
              </a:rPr>
              <a:t>Buenas prácticas</a:t>
            </a:r>
          </a:p>
          <a:p>
            <a:pPr>
              <a:buFont typeface="Arial" panose="020B0604020202020204" pitchFamily="34" charset="0"/>
              <a:buChar char="•"/>
            </a:pPr>
            <a:r>
              <a:rPr lang="es-MX" sz="2000" dirty="0">
                <a:solidFill>
                  <a:schemeClr val="tx2">
                    <a:lumMod val="75000"/>
                  </a:schemeClr>
                </a:solidFill>
              </a:rPr>
              <a:t>Registro escrito de observaciones. </a:t>
            </a:r>
          </a:p>
          <a:p>
            <a:pPr>
              <a:buFont typeface="Arial" panose="020B0604020202020204" pitchFamily="34" charset="0"/>
              <a:buChar char="•"/>
            </a:pPr>
            <a:r>
              <a:rPr lang="es-MX" sz="2000" dirty="0">
                <a:solidFill>
                  <a:schemeClr val="tx2">
                    <a:lumMod val="75000"/>
                  </a:schemeClr>
                </a:solidFill>
              </a:rPr>
              <a:t>Uso de matriz consolidada. </a:t>
            </a:r>
          </a:p>
          <a:p>
            <a:pPr>
              <a:buFont typeface="Arial" panose="020B0604020202020204" pitchFamily="34" charset="0"/>
              <a:buChar char="•"/>
            </a:pPr>
            <a:r>
              <a:rPr lang="es-MX" sz="2000" dirty="0">
                <a:solidFill>
                  <a:schemeClr val="tx2">
                    <a:lumMod val="75000"/>
                  </a:schemeClr>
                </a:solidFill>
              </a:rPr>
              <a:t>Organización digital de expedientes. </a:t>
            </a:r>
          </a:p>
          <a:p>
            <a:pPr>
              <a:buFont typeface="Arial" panose="020B0604020202020204" pitchFamily="34" charset="0"/>
              <a:buChar char="•"/>
            </a:pPr>
            <a:r>
              <a:rPr lang="es-MX" sz="2000" dirty="0">
                <a:solidFill>
                  <a:schemeClr val="tx2">
                    <a:lumMod val="75000"/>
                  </a:schemeClr>
                </a:solidFill>
              </a:rPr>
              <a:t>Revisión uniforme. </a:t>
            </a:r>
          </a:p>
          <a:p>
            <a:pPr>
              <a:buFont typeface="Arial" panose="020B0604020202020204" pitchFamily="34" charset="0"/>
              <a:buChar char="•"/>
            </a:pPr>
            <a:r>
              <a:rPr lang="es-MX" sz="2000" dirty="0">
                <a:solidFill>
                  <a:schemeClr val="tx2">
                    <a:lumMod val="75000"/>
                  </a:schemeClr>
                </a:solidFill>
              </a:rPr>
              <a:t>Validación colegiada.</a:t>
            </a:r>
          </a:p>
          <a:p>
            <a:r>
              <a:rPr lang="es-MX" sz="2000" dirty="0">
                <a:solidFill>
                  <a:schemeClr val="tx2">
                    <a:lumMod val="75000"/>
                  </a:schemeClr>
                </a:solidFill>
              </a:rPr>
              <a:t> </a:t>
            </a:r>
          </a:p>
          <a:p>
            <a:pPr>
              <a:buNone/>
            </a:pPr>
            <a:r>
              <a:rPr lang="es-MX" sz="2000" b="1" dirty="0">
                <a:solidFill>
                  <a:schemeClr val="tx2">
                    <a:lumMod val="75000"/>
                  </a:schemeClr>
                </a:solidFill>
              </a:rPr>
              <a:t>Objetivo</a:t>
            </a:r>
          </a:p>
          <a:p>
            <a:pPr>
              <a:buNone/>
            </a:pPr>
            <a:r>
              <a:rPr lang="es-MX" sz="2000" dirty="0">
                <a:solidFill>
                  <a:schemeClr val="tx2">
                    <a:lumMod val="75000"/>
                  </a:schemeClr>
                </a:solidFill>
              </a:rPr>
              <a:t>Reducir riesgos jurídicos y operativos.</a:t>
            </a:r>
          </a:p>
        </p:txBody>
      </p:sp>
      <p:sp>
        <p:nvSpPr>
          <p:cNvPr id="8" name="CuadroTexto 7">
            <a:extLst>
              <a:ext uri="{FF2B5EF4-FFF2-40B4-BE49-F238E27FC236}">
                <a16:creationId xmlns:a16="http://schemas.microsoft.com/office/drawing/2014/main" id="{BD41C72B-9C1D-5198-4D49-62BD7C245E8B}"/>
              </a:ext>
            </a:extLst>
          </p:cNvPr>
          <p:cNvSpPr txBox="1"/>
          <p:nvPr/>
        </p:nvSpPr>
        <p:spPr>
          <a:xfrm>
            <a:off x="1756064" y="1660302"/>
            <a:ext cx="5237018" cy="507831"/>
          </a:xfrm>
          <a:prstGeom prst="rect">
            <a:avLst/>
          </a:prstGeom>
          <a:noFill/>
        </p:spPr>
        <p:txBody>
          <a:bodyPr wrap="square">
            <a:spAutoFit/>
          </a:bodyPr>
          <a:lstStyle/>
          <a:p>
            <a:pPr>
              <a:buNone/>
            </a:pPr>
            <a:r>
              <a:rPr lang="es-MX" sz="2700" b="1" dirty="0">
                <a:solidFill>
                  <a:schemeClr val="accent1">
                    <a:lumMod val="75000"/>
                  </a:schemeClr>
                </a:solidFill>
              </a:rPr>
              <a:t>TRAZABILIDAD Y CONTROL</a:t>
            </a:r>
          </a:p>
        </p:txBody>
      </p:sp>
    </p:spTree>
    <p:extLst>
      <p:ext uri="{BB962C8B-B14F-4D97-AF65-F5344CB8AC3E}">
        <p14:creationId xmlns:p14="http://schemas.microsoft.com/office/powerpoint/2010/main" val="735143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65F3-63EF-0880-AE3F-21AA9831EBB6}"/>
            </a:ext>
          </a:extLst>
        </p:cNvPr>
        <p:cNvGrpSpPr/>
        <p:nvPr/>
      </p:nvGrpSpPr>
      <p:grpSpPr>
        <a:xfrm>
          <a:off x="0" y="0"/>
          <a:ext cx="0" cy="0"/>
          <a:chOff x="0" y="0"/>
          <a:chExt cx="0" cy="0"/>
        </a:xfrm>
      </p:grpSpPr>
      <p:sp>
        <p:nvSpPr>
          <p:cNvPr id="25" name="Rectángulo 24">
            <a:extLst>
              <a:ext uri="{FF2B5EF4-FFF2-40B4-BE49-F238E27FC236}">
                <a16:creationId xmlns:a16="http://schemas.microsoft.com/office/drawing/2014/main" id="{05B9107F-5768-F3EF-78B1-AD32491246E7}"/>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B8DC69DC-747E-B120-49EB-51037E35F34F}"/>
              </a:ext>
            </a:extLst>
          </p:cNvPr>
          <p:cNvSpPr/>
          <p:nvPr/>
        </p:nvSpPr>
        <p:spPr>
          <a:xfrm>
            <a:off x="539699" y="2073893"/>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25AA3509-0A50-9824-3392-90EA14FD272C}"/>
              </a:ext>
            </a:extLst>
          </p:cNvPr>
          <p:cNvCxnSpPr>
            <a:cxnSpLocks/>
          </p:cNvCxnSpPr>
          <p:nvPr/>
        </p:nvCxnSpPr>
        <p:spPr>
          <a:xfrm flipV="1">
            <a:off x="1384177" y="2796772"/>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9CD2A520-A09F-7A29-5F6C-BC495F422F62}"/>
              </a:ext>
            </a:extLst>
          </p:cNvPr>
          <p:cNvSpPr txBox="1"/>
          <p:nvPr/>
        </p:nvSpPr>
        <p:spPr>
          <a:xfrm>
            <a:off x="1548245" y="2647144"/>
            <a:ext cx="4572000" cy="3170099"/>
          </a:xfrm>
          <a:prstGeom prst="rect">
            <a:avLst/>
          </a:prstGeom>
          <a:noFill/>
        </p:spPr>
        <p:txBody>
          <a:bodyPr wrap="square">
            <a:spAutoFit/>
          </a:bodyPr>
          <a:lstStyle/>
          <a:p>
            <a:pPr>
              <a:buNone/>
            </a:pPr>
            <a:r>
              <a:rPr lang="es-MX" sz="2000" b="1" dirty="0">
                <a:solidFill>
                  <a:schemeClr val="tx2">
                    <a:lumMod val="75000"/>
                  </a:schemeClr>
                </a:solidFill>
              </a:rPr>
              <a:t>Riesgos operativos</a:t>
            </a:r>
          </a:p>
          <a:p>
            <a:pPr>
              <a:buNone/>
            </a:pPr>
            <a:endParaRPr lang="es-MX" sz="1100" b="1" dirty="0">
              <a:solidFill>
                <a:schemeClr val="tx2">
                  <a:lumMod val="75000"/>
                </a:schemeClr>
              </a:solidFill>
            </a:endParaRPr>
          </a:p>
          <a:p>
            <a:pPr>
              <a:buFont typeface="Arial" panose="020B0604020202020204" pitchFamily="34" charset="0"/>
              <a:buChar char="•"/>
            </a:pPr>
            <a:r>
              <a:rPr lang="es-MX" sz="2000" dirty="0">
                <a:solidFill>
                  <a:schemeClr val="tx2">
                    <a:lumMod val="75000"/>
                  </a:schemeClr>
                </a:solidFill>
              </a:rPr>
              <a:t>Documentación incompleta. </a:t>
            </a:r>
          </a:p>
          <a:p>
            <a:pPr>
              <a:buFont typeface="Arial" panose="020B0604020202020204" pitchFamily="34" charset="0"/>
              <a:buChar char="•"/>
            </a:pPr>
            <a:r>
              <a:rPr lang="es-MX" sz="2000" dirty="0">
                <a:solidFill>
                  <a:schemeClr val="tx2">
                    <a:lumMod val="75000"/>
                  </a:schemeClr>
                </a:solidFill>
              </a:rPr>
              <a:t>Registros duplicados. </a:t>
            </a:r>
          </a:p>
          <a:p>
            <a:pPr>
              <a:buFont typeface="Arial" panose="020B0604020202020204" pitchFamily="34" charset="0"/>
              <a:buChar char="•"/>
            </a:pPr>
            <a:r>
              <a:rPr lang="es-MX" sz="2000" dirty="0">
                <a:solidFill>
                  <a:schemeClr val="tx2">
                    <a:lumMod val="75000"/>
                  </a:schemeClr>
                </a:solidFill>
              </a:rPr>
              <a:t>Errores de habilitación. </a:t>
            </a:r>
          </a:p>
          <a:p>
            <a:endParaRPr lang="es-MX" sz="2000" dirty="0">
              <a:solidFill>
                <a:schemeClr val="tx2">
                  <a:lumMod val="75000"/>
                </a:schemeClr>
              </a:solidFill>
            </a:endParaRPr>
          </a:p>
          <a:p>
            <a:pPr>
              <a:buNone/>
            </a:pPr>
            <a:r>
              <a:rPr lang="es-MX" sz="2000" b="1" dirty="0">
                <a:solidFill>
                  <a:schemeClr val="tx2">
                    <a:lumMod val="75000"/>
                  </a:schemeClr>
                </a:solidFill>
              </a:rPr>
              <a:t>Riesgos jurídicos</a:t>
            </a:r>
          </a:p>
          <a:p>
            <a:pPr>
              <a:buNone/>
            </a:pPr>
            <a:endParaRPr lang="es-MX" sz="1100" b="1" dirty="0">
              <a:solidFill>
                <a:schemeClr val="tx2">
                  <a:lumMod val="75000"/>
                </a:schemeClr>
              </a:solidFill>
            </a:endParaRPr>
          </a:p>
          <a:p>
            <a:pPr>
              <a:buFont typeface="Arial" panose="020B0604020202020204" pitchFamily="34" charset="0"/>
              <a:buChar char="•"/>
            </a:pPr>
            <a:r>
              <a:rPr lang="es-MX" sz="2000" dirty="0">
                <a:solidFill>
                  <a:schemeClr val="tx2">
                    <a:lumMod val="75000"/>
                  </a:schemeClr>
                </a:solidFill>
              </a:rPr>
              <a:t>Falta de soporte. </a:t>
            </a:r>
          </a:p>
          <a:p>
            <a:pPr>
              <a:buFont typeface="Arial" panose="020B0604020202020204" pitchFamily="34" charset="0"/>
              <a:buChar char="•"/>
            </a:pPr>
            <a:r>
              <a:rPr lang="es-MX" sz="2000" dirty="0">
                <a:solidFill>
                  <a:schemeClr val="tx2">
                    <a:lumMod val="75000"/>
                  </a:schemeClr>
                </a:solidFill>
              </a:rPr>
              <a:t>Inconsistencias documentales. </a:t>
            </a:r>
          </a:p>
          <a:p>
            <a:pPr>
              <a:buFont typeface="Arial" panose="020B0604020202020204" pitchFamily="34" charset="0"/>
              <a:buChar char="•"/>
            </a:pPr>
            <a:r>
              <a:rPr lang="es-MX" sz="2000" dirty="0">
                <a:solidFill>
                  <a:schemeClr val="tx2">
                    <a:lumMod val="75000"/>
                  </a:schemeClr>
                </a:solidFill>
              </a:rPr>
              <a:t>Vulneración de igualdad.</a:t>
            </a:r>
          </a:p>
        </p:txBody>
      </p:sp>
      <p:sp>
        <p:nvSpPr>
          <p:cNvPr id="7" name="CuadroTexto 6">
            <a:extLst>
              <a:ext uri="{FF2B5EF4-FFF2-40B4-BE49-F238E27FC236}">
                <a16:creationId xmlns:a16="http://schemas.microsoft.com/office/drawing/2014/main" id="{774E57AE-DDE3-D66F-810B-5533B4452580}"/>
              </a:ext>
            </a:extLst>
          </p:cNvPr>
          <p:cNvSpPr txBox="1"/>
          <p:nvPr/>
        </p:nvSpPr>
        <p:spPr>
          <a:xfrm>
            <a:off x="1724891" y="1918901"/>
            <a:ext cx="4572000" cy="507831"/>
          </a:xfrm>
          <a:prstGeom prst="rect">
            <a:avLst/>
          </a:prstGeom>
          <a:noFill/>
        </p:spPr>
        <p:txBody>
          <a:bodyPr wrap="square">
            <a:spAutoFit/>
          </a:bodyPr>
          <a:lstStyle/>
          <a:p>
            <a:pPr>
              <a:buNone/>
            </a:pPr>
            <a:r>
              <a:rPr lang="es-MX" sz="2700" b="1" dirty="0">
                <a:solidFill>
                  <a:schemeClr val="accent1">
                    <a:lumMod val="75000"/>
                  </a:schemeClr>
                </a:solidFill>
              </a:rPr>
              <a:t>RIESGOS A CONTROLAR</a:t>
            </a:r>
          </a:p>
        </p:txBody>
      </p:sp>
    </p:spTree>
    <p:extLst>
      <p:ext uri="{BB962C8B-B14F-4D97-AF65-F5344CB8AC3E}">
        <p14:creationId xmlns:p14="http://schemas.microsoft.com/office/powerpoint/2010/main" val="3873097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ABA00-9313-7DEB-317D-F7EED8C4991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C747A4F-E400-4B2C-A616-B1A742C95C2B}"/>
              </a:ext>
            </a:extLst>
          </p:cNvPr>
          <p:cNvSpPr/>
          <p:nvPr/>
        </p:nvSpPr>
        <p:spPr>
          <a:xfrm>
            <a:off x="817000" y="1158910"/>
            <a:ext cx="7026078" cy="114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5" name="Rectángulo 24">
            <a:extLst>
              <a:ext uri="{FF2B5EF4-FFF2-40B4-BE49-F238E27FC236}">
                <a16:creationId xmlns:a16="http://schemas.microsoft.com/office/drawing/2014/main" id="{26A35AC8-DF12-B862-26B2-11C396F77819}"/>
              </a:ext>
            </a:extLst>
          </p:cNvPr>
          <p:cNvSpPr/>
          <p:nvPr/>
        </p:nvSpPr>
        <p:spPr>
          <a:xfrm rot="5400000">
            <a:off x="6624817" y="3370375"/>
            <a:ext cx="3750692" cy="773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9" name="Rectángulo 28">
            <a:extLst>
              <a:ext uri="{FF2B5EF4-FFF2-40B4-BE49-F238E27FC236}">
                <a16:creationId xmlns:a16="http://schemas.microsoft.com/office/drawing/2014/main" id="{554A857F-D338-16BD-2AA0-EC9CEE4C3FD7}"/>
              </a:ext>
            </a:extLst>
          </p:cNvPr>
          <p:cNvSpPr/>
          <p:nvPr/>
        </p:nvSpPr>
        <p:spPr>
          <a:xfrm>
            <a:off x="605175" y="1519235"/>
            <a:ext cx="554601" cy="873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9" name="Conector recto 8">
            <a:extLst>
              <a:ext uri="{FF2B5EF4-FFF2-40B4-BE49-F238E27FC236}">
                <a16:creationId xmlns:a16="http://schemas.microsoft.com/office/drawing/2014/main" id="{58FEAAEB-7410-A363-7DE4-A5A748751344}"/>
              </a:ext>
            </a:extLst>
          </p:cNvPr>
          <p:cNvCxnSpPr>
            <a:cxnSpLocks/>
          </p:cNvCxnSpPr>
          <p:nvPr/>
        </p:nvCxnSpPr>
        <p:spPr>
          <a:xfrm flipV="1">
            <a:off x="1365473" y="2647144"/>
            <a:ext cx="0" cy="2103896"/>
          </a:xfrm>
          <a:prstGeom prst="line">
            <a:avLst/>
          </a:prstGeom>
          <a:ln w="25400">
            <a:solidFill>
              <a:srgbClr val="D8723E"/>
            </a:solidFill>
            <a:prstDash val="sysDash"/>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20E85F30-00D2-BC54-A05D-734F8079952C}"/>
              </a:ext>
            </a:extLst>
          </p:cNvPr>
          <p:cNvSpPr txBox="1"/>
          <p:nvPr/>
        </p:nvSpPr>
        <p:spPr>
          <a:xfrm>
            <a:off x="1662545" y="2677563"/>
            <a:ext cx="5212080" cy="3046988"/>
          </a:xfrm>
          <a:prstGeom prst="rect">
            <a:avLst/>
          </a:prstGeom>
          <a:noFill/>
        </p:spPr>
        <p:txBody>
          <a:bodyPr wrap="square">
            <a:spAutoFit/>
          </a:bodyPr>
          <a:lstStyle/>
          <a:p>
            <a:pPr>
              <a:buNone/>
            </a:pPr>
            <a:r>
              <a:rPr lang="es-MX" sz="2400" b="1" dirty="0">
                <a:solidFill>
                  <a:schemeClr val="tx2">
                    <a:lumMod val="75000"/>
                  </a:schemeClr>
                </a:solidFill>
              </a:rPr>
              <a:t>La Comisión debe:</a:t>
            </a:r>
          </a:p>
          <a:p>
            <a:pPr>
              <a:buNone/>
            </a:pPr>
            <a:endParaRPr lang="es-MX" sz="2400" b="1" dirty="0">
              <a:solidFill>
                <a:schemeClr val="tx2">
                  <a:lumMod val="75000"/>
                </a:schemeClr>
              </a:solidFill>
            </a:endParaRPr>
          </a:p>
          <a:p>
            <a:pPr>
              <a:buFont typeface="Arial" panose="020B0604020202020204" pitchFamily="34" charset="0"/>
              <a:buChar char="•"/>
            </a:pPr>
            <a:r>
              <a:rPr lang="es-MX" sz="2400" dirty="0">
                <a:solidFill>
                  <a:schemeClr val="tx2">
                    <a:lumMod val="75000"/>
                  </a:schemeClr>
                </a:solidFill>
              </a:rPr>
              <a:t> aplicar criterios uniformes; </a:t>
            </a:r>
          </a:p>
          <a:p>
            <a:pPr>
              <a:buFont typeface="Arial" panose="020B0604020202020204" pitchFamily="34" charset="0"/>
              <a:buChar char="•"/>
            </a:pPr>
            <a:r>
              <a:rPr lang="es-MX" sz="2400" dirty="0">
                <a:solidFill>
                  <a:schemeClr val="tx2">
                    <a:lumMod val="75000"/>
                  </a:schemeClr>
                </a:solidFill>
              </a:rPr>
              <a:t> respetar el cronograma; </a:t>
            </a:r>
          </a:p>
          <a:p>
            <a:pPr>
              <a:buFont typeface="Arial" panose="020B0604020202020204" pitchFamily="34" charset="0"/>
              <a:buChar char="•"/>
            </a:pPr>
            <a:r>
              <a:rPr lang="es-MX" sz="2400" dirty="0">
                <a:solidFill>
                  <a:schemeClr val="tx2">
                    <a:lumMod val="75000"/>
                  </a:schemeClr>
                </a:solidFill>
              </a:rPr>
              <a:t> mantener soporte documental; </a:t>
            </a:r>
          </a:p>
          <a:p>
            <a:pPr>
              <a:buFont typeface="Arial" panose="020B0604020202020204" pitchFamily="34" charset="0"/>
              <a:buChar char="•"/>
            </a:pPr>
            <a:r>
              <a:rPr lang="es-MX" sz="2400" dirty="0">
                <a:solidFill>
                  <a:schemeClr val="tx2">
                    <a:lumMod val="75000"/>
                  </a:schemeClr>
                </a:solidFill>
              </a:rPr>
              <a:t> garantizar imparcialidad; </a:t>
            </a:r>
          </a:p>
          <a:p>
            <a:pPr>
              <a:buFont typeface="Arial" panose="020B0604020202020204" pitchFamily="34" charset="0"/>
              <a:buChar char="•"/>
            </a:pPr>
            <a:r>
              <a:rPr lang="es-MX" sz="2400" dirty="0">
                <a:solidFill>
                  <a:schemeClr val="tx2">
                    <a:lumMod val="75000"/>
                  </a:schemeClr>
                </a:solidFill>
              </a:rPr>
              <a:t> consolidar evidencia de revisión; </a:t>
            </a:r>
          </a:p>
          <a:p>
            <a:pPr>
              <a:buFont typeface="Arial" panose="020B0604020202020204" pitchFamily="34" charset="0"/>
              <a:buChar char="•"/>
            </a:pPr>
            <a:r>
              <a:rPr lang="es-MX" sz="2400" dirty="0">
                <a:solidFill>
                  <a:schemeClr val="tx2">
                    <a:lumMod val="75000"/>
                  </a:schemeClr>
                </a:solidFill>
              </a:rPr>
              <a:t> asegurar trazabilidad de actuaciones.</a:t>
            </a:r>
          </a:p>
        </p:txBody>
      </p:sp>
      <p:sp>
        <p:nvSpPr>
          <p:cNvPr id="8" name="CuadroTexto 7">
            <a:extLst>
              <a:ext uri="{FF2B5EF4-FFF2-40B4-BE49-F238E27FC236}">
                <a16:creationId xmlns:a16="http://schemas.microsoft.com/office/drawing/2014/main" id="{E291CAFD-F2EA-94A3-3E8F-24F1327E2022}"/>
              </a:ext>
            </a:extLst>
          </p:cNvPr>
          <p:cNvSpPr txBox="1"/>
          <p:nvPr/>
        </p:nvSpPr>
        <p:spPr>
          <a:xfrm>
            <a:off x="1662545" y="1779781"/>
            <a:ext cx="6276110" cy="507831"/>
          </a:xfrm>
          <a:prstGeom prst="rect">
            <a:avLst/>
          </a:prstGeom>
          <a:noFill/>
        </p:spPr>
        <p:txBody>
          <a:bodyPr wrap="square">
            <a:spAutoFit/>
          </a:bodyPr>
          <a:lstStyle/>
          <a:p>
            <a:pPr>
              <a:buNone/>
            </a:pPr>
            <a:r>
              <a:rPr lang="es-MX" sz="2700" b="1" dirty="0">
                <a:solidFill>
                  <a:schemeClr val="accent1">
                    <a:lumMod val="75000"/>
                  </a:schemeClr>
                </a:solidFill>
              </a:rPr>
              <a:t>RECOMENDACIONES GENERALES</a:t>
            </a:r>
          </a:p>
        </p:txBody>
      </p:sp>
    </p:spTree>
    <p:extLst>
      <p:ext uri="{BB962C8B-B14F-4D97-AF65-F5344CB8AC3E}">
        <p14:creationId xmlns:p14="http://schemas.microsoft.com/office/powerpoint/2010/main" val="1883903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5286674"/>
      </p:ext>
    </p:extLst>
  </p:cSld>
  <p:clrMapOvr>
    <a:masterClrMapping/>
  </p:clrMapOvr>
</p:sld>
</file>

<file path=ppt/theme/theme1.xml><?xml version="1.0" encoding="utf-8"?>
<a:theme xmlns:a="http://schemas.openxmlformats.org/drawingml/2006/main" name="Office 2013 - Tema de 2022">
  <a:themeElements>
    <a:clrScheme name="Office 2013 - Tema de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Tema de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de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5045</TotalTime>
  <Words>1364</Words>
  <Application>Microsoft Office PowerPoint</Application>
  <PresentationFormat>Presentación en pantalla (4:3)</PresentationFormat>
  <Paragraphs>278</Paragraphs>
  <Slides>21</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Aptos</vt:lpstr>
      <vt:lpstr>Arial</vt:lpstr>
      <vt:lpstr>Calibri</vt:lpstr>
      <vt:lpstr>Calibri Light</vt:lpstr>
      <vt:lpstr>Nunito Sans Normal</vt:lpstr>
      <vt:lpstr>Nunito Sans Normal Black</vt:lpstr>
      <vt:lpstr>Verdana</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William Camilo  Baracaldo Godoy</dc:creator>
  <cp:lastModifiedBy>Henry Leonardo Martin Uribe</cp:lastModifiedBy>
  <cp:revision>49</cp:revision>
  <dcterms:created xsi:type="dcterms:W3CDTF">2023-05-08T00:34:42Z</dcterms:created>
  <dcterms:modified xsi:type="dcterms:W3CDTF">2026-06-05T00:18:59Z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9c9bbd4-2155-4c05-a8cb-143fc41f09a9_Enabled">
    <vt:lpwstr>true</vt:lpwstr>
  </property>
  <property fmtid="{D5CDD505-2E9C-101B-9397-08002B2CF9AE}" pid="3" name="MSIP_Label_79c9bbd4-2155-4c05-a8cb-143fc41f09a9_SetDate">
    <vt:lpwstr>2024-11-06T22:39:09Z</vt:lpwstr>
  </property>
  <property fmtid="{D5CDD505-2E9C-101B-9397-08002B2CF9AE}" pid="4" name="MSIP_Label_79c9bbd4-2155-4c05-a8cb-143fc41f09a9_Method">
    <vt:lpwstr>Standard</vt:lpwstr>
  </property>
  <property fmtid="{D5CDD505-2E9C-101B-9397-08002B2CF9AE}" pid="5" name="MSIP_Label_79c9bbd4-2155-4c05-a8cb-143fc41f09a9_Name">
    <vt:lpwstr>defa4170-0d19-0005-0004-bc88714345d2</vt:lpwstr>
  </property>
  <property fmtid="{D5CDD505-2E9C-101B-9397-08002B2CF9AE}" pid="6" name="MSIP_Label_79c9bbd4-2155-4c05-a8cb-143fc41f09a9_SiteId">
    <vt:lpwstr>33fa6907-21c6-4126-aa66-bcbed95361bb</vt:lpwstr>
  </property>
  <property fmtid="{D5CDD505-2E9C-101B-9397-08002B2CF9AE}" pid="7" name="MSIP_Label_79c9bbd4-2155-4c05-a8cb-143fc41f09a9_ActionId">
    <vt:lpwstr>b57ca5bb-2342-4d2b-bd60-7bd649ceeaab</vt:lpwstr>
  </property>
  <property fmtid="{D5CDD505-2E9C-101B-9397-08002B2CF9AE}" pid="8" name="MSIP_Label_79c9bbd4-2155-4c05-a8cb-143fc41f09a9_ContentBits">
    <vt:lpwstr>0</vt:lpwstr>
  </property>
</Properties>
</file>